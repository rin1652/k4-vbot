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12625299244444" /><Relationship Type="http://schemas.openxmlformats.org/officeDocument/2006/relationships/extended-properties" Target="/docProps/app.xml" Id="Rb486e92dce7046b2" /><Relationship Type="http://schemas.openxmlformats.org/officeDocument/2006/relationships/officeDocument" Target="/ppt/presentation.xml" Id="R61a9d16586fc45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5c73cb59984e7a"/>
  </p:sldMasterIdLst>
  <p:notesMasterIdLst>
    <p:notesMasterId xmlns:r="http://schemas.openxmlformats.org/officeDocument/2006/relationships" r:id="R7a80d82c1c1a468a"/>
  </p:notesMasterIdLst>
  <p:sldIdLst>
    <p:sldId xmlns:r="http://schemas.openxmlformats.org/officeDocument/2006/relationships" id="256" r:id="Ra14e00df859342b2"/>
    <p:sldId xmlns:r="http://schemas.openxmlformats.org/officeDocument/2006/relationships" id="257" r:id="R2c67041f10ab4c2a"/>
    <p:sldId xmlns:r="http://schemas.openxmlformats.org/officeDocument/2006/relationships" id="258" r:id="R554c0dcf1de347c6"/>
    <p:sldId xmlns:r="http://schemas.openxmlformats.org/officeDocument/2006/relationships" id="259" r:id="Ref67d33fc6c14a35"/>
    <p:sldId xmlns:r="http://schemas.openxmlformats.org/officeDocument/2006/relationships" id="260" r:id="Rb4d99999de8b4ac7"/>
    <p:sldId xmlns:r="http://schemas.openxmlformats.org/officeDocument/2006/relationships" id="261" r:id="R2cacc74301934d19"/>
    <p:sldId xmlns:r="http://schemas.openxmlformats.org/officeDocument/2006/relationships" id="262" r:id="R43efe94a45c044ec"/>
    <p:sldId xmlns:r="http://schemas.openxmlformats.org/officeDocument/2006/relationships" id="263" r:id="R8d71be0b3b2f4c2e"/>
    <p:sldId xmlns:r="http://schemas.openxmlformats.org/officeDocument/2006/relationships" id="264" r:id="Rfd0d7deedb8e446d"/>
    <p:sldId xmlns:r="http://schemas.openxmlformats.org/officeDocument/2006/relationships" id="265" r:id="R8d19c292fc1d44e2"/>
    <p:sldId xmlns:r="http://schemas.openxmlformats.org/officeDocument/2006/relationships" id="266" r:id="Rdd54597152084b13"/>
    <p:sldId xmlns:r="http://schemas.openxmlformats.org/officeDocument/2006/relationships" id="267" r:id="R56f5035ebf1b40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47ce8757554315" /><Relationship Type="http://schemas.openxmlformats.org/officeDocument/2006/relationships/slideMaster" Target="/ppt/slideMasters/slideMaster1.xml" Id="R785c73cb59984e7a" /><Relationship Type="http://schemas.openxmlformats.org/officeDocument/2006/relationships/notesMaster" Target="/ppt/notesMasters/notesMaster1.xml" Id="R7a80d82c1c1a468a" /><Relationship Type="http://schemas.openxmlformats.org/officeDocument/2006/relationships/presProps" Target="/ppt/presProps.xml" Id="Rcc3217788e1e4cfc" /><Relationship Type="http://schemas.openxmlformats.org/officeDocument/2006/relationships/tableStyles" Target="/ppt/tableStyles.xml" Id="Re5963533af014ce7" /><Relationship Type="http://schemas.openxmlformats.org/officeDocument/2006/relationships/slide" Target="/ppt/slides/slide1.xml" Id="Ra14e00df859342b2" /><Relationship Type="http://schemas.openxmlformats.org/officeDocument/2006/relationships/slide" Target="/ppt/slides/slide2.xml" Id="R2c67041f10ab4c2a" /><Relationship Type="http://schemas.openxmlformats.org/officeDocument/2006/relationships/slide" Target="/ppt/slides/slide3.xml" Id="R554c0dcf1de347c6" /><Relationship Type="http://schemas.openxmlformats.org/officeDocument/2006/relationships/slide" Target="/ppt/slides/slide4.xml" Id="Ref67d33fc6c14a35" /><Relationship Type="http://schemas.openxmlformats.org/officeDocument/2006/relationships/slide" Target="/ppt/slides/slide5.xml" Id="Rb4d99999de8b4ac7" /><Relationship Type="http://schemas.openxmlformats.org/officeDocument/2006/relationships/slide" Target="/ppt/slides/slide6.xml" Id="R2cacc74301934d19" /><Relationship Type="http://schemas.openxmlformats.org/officeDocument/2006/relationships/slide" Target="/ppt/slides/slide7.xml" Id="R43efe94a45c044ec" /><Relationship Type="http://schemas.openxmlformats.org/officeDocument/2006/relationships/slide" Target="/ppt/slides/slide8.xml" Id="R8d71be0b3b2f4c2e" /><Relationship Type="http://schemas.openxmlformats.org/officeDocument/2006/relationships/slide" Target="/ppt/slides/slide9.xml" Id="Rfd0d7deedb8e446d" /><Relationship Type="http://schemas.openxmlformats.org/officeDocument/2006/relationships/slide" Target="/ppt/slides/slide10.xml" Id="R8d19c292fc1d44e2" /><Relationship Type="http://schemas.openxmlformats.org/officeDocument/2006/relationships/slide" Target="/ppt/slides/slide11.xml" Id="Rdd54597152084b13" /><Relationship Type="http://schemas.openxmlformats.org/officeDocument/2006/relationships/slide" Target="/ppt/slides/slide12.xml" Id="R56f5035ebf1b40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0b0e37e74345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d112fff45c4217" /><Relationship Type="http://schemas.openxmlformats.org/officeDocument/2006/relationships/notesMaster" Target="/ppt/notesMasters/notesMaster1.xml" Id="R41ae17d1fdf446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e0033bd4b34f69" /><Relationship Type="http://schemas.openxmlformats.org/officeDocument/2006/relationships/notesMaster" Target="/ppt/notesMasters/notesMaster1.xml" Id="R5e387bfa187a40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23d5bd9cd74365" /><Relationship Type="http://schemas.openxmlformats.org/officeDocument/2006/relationships/notesMaster" Target="/ppt/notesMasters/notesMaster1.xml" Id="Rcaea4f3a13e049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7011e9d8b54f37" /><Relationship Type="http://schemas.openxmlformats.org/officeDocument/2006/relationships/notesMaster" Target="/ppt/notesMasters/notesMaster1.xml" Id="R9aa02436f89c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4c95f4640f4848" /><Relationship Type="http://schemas.openxmlformats.org/officeDocument/2006/relationships/notesMaster" Target="/ppt/notesMasters/notesMaster1.xml" Id="Re22fa292ed0247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06dc4a0fb04513" /><Relationship Type="http://schemas.openxmlformats.org/officeDocument/2006/relationships/notesMaster" Target="/ppt/notesMasters/notesMaster1.xml" Id="R3af74bb5e1b942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c267e255f54e3f" /><Relationship Type="http://schemas.openxmlformats.org/officeDocument/2006/relationships/notesMaster" Target="/ppt/notesMasters/notesMaster1.xml" Id="R1497d69cdeaa4d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d1e3d5446545ea" /><Relationship Type="http://schemas.openxmlformats.org/officeDocument/2006/relationships/notesMaster" Target="/ppt/notesMasters/notesMaster1.xml" Id="R6c054f1850064f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2b417656a6486b" /><Relationship Type="http://schemas.openxmlformats.org/officeDocument/2006/relationships/notesMaster" Target="/ppt/notesMasters/notesMaster1.xml" Id="R2a01f051c1a148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1eecf6f0b5498d" /><Relationship Type="http://schemas.openxmlformats.org/officeDocument/2006/relationships/notesMaster" Target="/ppt/notesMasters/notesMaster1.xml" Id="Rab1aa6152e554d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62a9cce01a4591" /><Relationship Type="http://schemas.openxmlformats.org/officeDocument/2006/relationships/notesMaster" Target="/ppt/notesMasters/notesMaster1.xml" Id="R5bc8f5f9b67942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c3b088d067497d" /><Relationship Type="http://schemas.openxmlformats.org/officeDocument/2006/relationships/notesMaster" Target="/ppt/notesMasters/notesMaster1.xml" Id="R2dac676e64f649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10063f6e34a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17ed9dae94d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47ca11b814c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267d13e1445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89a18b40b44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56c8af07743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798356-4C8F-4A7F-9162-41EE13EAD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A1584E-7BDF-4CF1-B4D9-C5C407DE5B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C5E8BF-A2B7-4EB0-B443-30EF91DC3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872D49-3F23-48F9-8756-09443683F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9657B0-A6D9-4C0A-A11F-43260431FF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CD80D2-1994-4483-BE97-0EFE4C8C61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D08823-7D55-4111-BA3B-978F5653DC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BB36B4-6FB5-4343-821F-EFC2A63BB9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1805A8-1F95-4414-9DF1-8372DE057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70DBC4-7871-4655-8290-335C6B4087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509be5e4824aef" /><Relationship Type="http://schemas.openxmlformats.org/officeDocument/2006/relationships/slideLayout" Target="/ppt/slideLayouts/slideLayout1.xml" Id="Rd1d79f5ce8de4725" /><Relationship Type="http://schemas.openxmlformats.org/officeDocument/2006/relationships/slideLayout" Target="/ppt/slideLayouts/slideLayout2.xml" Id="Rb9847689a5f149cc" /><Relationship Type="http://schemas.openxmlformats.org/officeDocument/2006/relationships/slideLayout" Target="/ppt/slideLayouts/slideLayout3.xml" Id="Rffdcbb8f3c3b4858" /><Relationship Type="http://schemas.openxmlformats.org/officeDocument/2006/relationships/slideLayout" Target="/ppt/slideLayouts/slideLayout4.xml" Id="R5aa75e4a9d3e4471" /><Relationship Type="http://schemas.openxmlformats.org/officeDocument/2006/relationships/slideLayout" Target="/ppt/slideLayouts/slideLayout5.xml" Id="R3a31a8fdb3f6494b" /><Relationship Type="http://schemas.openxmlformats.org/officeDocument/2006/relationships/slideLayout" Target="/ppt/slideLayouts/slideLayout6.xml" Id="R97c7b887247d41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d79f5ce8de4725"/>
    <p:sldLayoutId xmlns:r="http://schemas.openxmlformats.org/officeDocument/2006/relationships" id="2147483650" r:id="Rb9847689a5f149cc"/>
    <p:sldLayoutId xmlns:r="http://schemas.openxmlformats.org/officeDocument/2006/relationships" id="2147483651" r:id="Rffdcbb8f3c3b4858"/>
    <p:sldLayoutId xmlns:r="http://schemas.openxmlformats.org/officeDocument/2006/relationships" id="2147483652" r:id="R5aa75e4a9d3e4471"/>
    <p:sldLayoutId xmlns:r="http://schemas.openxmlformats.org/officeDocument/2006/relationships" id="2147483653" r:id="R3a31a8fdb3f6494b"/>
    <p:sldLayoutId xmlns:r="http://schemas.openxmlformats.org/officeDocument/2006/relationships" id="2147483654" r:id="R97c7b887247d41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e58c6b8af4635" /><Relationship Type="http://schemas.openxmlformats.org/officeDocument/2006/relationships/notesSlide" Target="/ppt/notesSlides/notesSlide1.xml" Id="R65cd1dfb3cb04b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0f424da514fc3" /><Relationship Type="http://schemas.openxmlformats.org/officeDocument/2006/relationships/notesSlide" Target="/ppt/notesSlides/notesSlide2.xml" Id="Rdb0cb0c1a21c4c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abe6d5850420a" /><Relationship Type="http://schemas.openxmlformats.org/officeDocument/2006/relationships/notesSlide" Target="/ppt/notesSlides/notesSlide3.xml" Id="Rac0a42fc0c2d45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0b083555d4806" /><Relationship Type="http://schemas.openxmlformats.org/officeDocument/2006/relationships/notesSlide" Target="/ppt/notesSlides/notesSlide4.xml" Id="Rd34e569a345045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e03274b34455b" /><Relationship Type="http://schemas.openxmlformats.org/officeDocument/2006/relationships/notesSlide" Target="/ppt/notesSlides/notesSlide5.xml" Id="Re2f05869b56848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f22c5da254ecc" /><Relationship Type="http://schemas.openxmlformats.org/officeDocument/2006/relationships/notesSlide" Target="/ppt/notesSlides/notesSlide6.xml" Id="R6217b4f020b24f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06185ec81496d" /><Relationship Type="http://schemas.openxmlformats.org/officeDocument/2006/relationships/notesSlide" Target="/ppt/notesSlides/notesSlide7.xml" Id="R59b69ad40c8942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508a141bd446b" /><Relationship Type="http://schemas.openxmlformats.org/officeDocument/2006/relationships/notesSlide" Target="/ppt/notesSlides/notesSlide8.xml" Id="R01e935fa550e4c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fddf39f914deb" /><Relationship Type="http://schemas.openxmlformats.org/officeDocument/2006/relationships/notesSlide" Target="/ppt/notesSlides/notesSlide9.xml" Id="R4ecd7261fc2649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8f5d59e664cb3" /><Relationship Type="http://schemas.openxmlformats.org/officeDocument/2006/relationships/notesSlide" Target="/ppt/notesSlides/notesSlide10.xml" Id="R0343933e623d4d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6d10749db4252" /><Relationship Type="http://schemas.openxmlformats.org/officeDocument/2006/relationships/notesSlide" Target="/ppt/notesSlides/notesSlide11.xml" Id="R7ee9bb16e9e44c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2e672e82b74fcb" /><Relationship Type="http://schemas.openxmlformats.org/officeDocument/2006/relationships/notesSlide" Target="/ppt/notesSlides/notesSlide12.xml" Id="R1644c4615ae84f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02005-B6C8-41F6-B592-BD3CE90D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E749C-CA0E-49E6-A0AE-8CFFC572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Giả định và tính tải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13DE8-9485-426A-A519-6E8F1C53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Nguồn sự thật: sizing.py · token/model-call là giả định trước telemetry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E682E-CBA7-42DE-88AE-F9ACB765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D80C7-4F31-468A-AA06-E6DE9CAE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1.760M</a:t>
            </a:r>
          </a:p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requests/tháng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7D179-DE1C-4745-8272-8AA5E1F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47875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2.376M</a:t>
            </a:r>
          </a:p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model calls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246E6-797D-4071-AD23-12B68D3B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47875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9.636B input</a:t>
            </a:r>
          </a:p>
          <a:p xmlns:a="http://schemas.openxmlformats.org/drawingml/2006/main"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1.452B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95CBA-C34D-4614-8310-C647D71C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47875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D1B26"/>
                </a:solidFill>
              </a:defRPr>
            </a:pPr>
            <a:r>
              <a:rPr sz="1575" b="1">
                <a:solidFill>
                  <a:srgbClr val="0D1B26"/>
                </a:solidFill>
              </a:rPr>
              <a:t>6.67 req/s</a:t>
            </a:r>
          </a:p>
          <a:p xmlns:a="http://schemas.openxmlformats.org/drawingml/2006/main">
            <a:pPr>
              <a:defRPr sz="1575" b="1">
                <a:solidFill>
                  <a:srgbClr val="0D1B26"/>
                </a:solidFill>
              </a:defRPr>
            </a:pPr>
            <a:r>
              <a:rPr sz="1575" b="1">
                <a:solidFill>
                  <a:srgbClr val="0D1B26"/>
                </a:solidFill>
              </a:rPr>
              <a:t>9.00 calls/s peak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0D75A-8354-40E5-8180-062332F2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47875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6.100 GB</a:t>
            </a:r>
          </a:p>
          <a:p xmlns:a="http://schemas.openxmlformats.org/drawingml/2006/main"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prod +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300ED-343E-4412-99B2-5E9AFAD3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Công thức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92992-A382-42B0-B6FE-483D3387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2.000 DAU × 22 × 40 = 1.760.000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Giờ hành chính = 220h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1.760.000 ÷ 792.000s = 2,22 req/s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×3 peak = 6,67 req/s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400.000 sandbox workload × 30s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53D04-3F7F-4E43-9F97-8ED1EEE4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Phạm vi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735C9-ABFC-4E8A-B609-87987481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386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90.000 ảnh/tháng là volume riêng.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Production storage: 2.000 × 3 GB = 6.000 GB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Staging storage: 100 GB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Fargate billing theo lifetime; sandbox cost dùng handoff Tú 80s billable giả định.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E83C2-1210-4053-A650-A4DC9E51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AWS ap-southeast-1 · 2 AZ · USD/tháng chưa VAT</a:t>
            </a:r>
          </a:p>
        </p:txBody>
      </p:sp>
    </p:spTree>
    <p:extLst>
      <p:ext uri="{BB962C8B-B14F-4D97-AF65-F5344CB8AC3E}">
        <p14:creationId xmlns:p14="http://schemas.microsoft.com/office/powerpoint/2010/main" val="2025540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634AE-9A7C-443E-AFA1-280F98DE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83A7F-5D96-4FCC-A048-0D89BA54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Kiến trúc tổng thể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B7DD1-4F4D-4E14-A7A9-0A21278C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Mỗi hộp gắn mã component của báo giá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4A3F0-9703-4B14-8A01-F88E646F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85A9D-36B5-4211-A2E9-AE3BC86E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4763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User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SSO/MFA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authn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988DC-823C-4327-B6E9-F2ADDD98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E99"/>
                </a:solidFill>
              </a:defRPr>
            </a:pPr>
            <a:r>
              <a:rPr sz="2100" b="1">
                <a:solidFill>
                  <a:srgbClr val="0B6E99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010E7-855C-441F-B165-EFC852A0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WAF + ALB</a:t>
            </a:r>
          </a:p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network / load_balancer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3F2EC-A0D9-4407-AAC0-E9291DEB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E99"/>
                </a:solidFill>
              </a:defRPr>
            </a:pPr>
            <a:r>
              <a:rPr sz="2100" b="1">
                <a:solidFill>
                  <a:srgbClr val="0B6E9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5EF79-AE78-4B58-88BA-5F46D7BB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905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Fargate app</a:t>
            </a:r>
          </a:p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compute /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4F3CE-1663-4BFF-B908-9F7BBF0E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E99"/>
                </a:solidFill>
              </a:defRPr>
            </a:pPr>
            <a:r>
              <a:rPr sz="2100" b="1">
                <a:solidFill>
                  <a:srgbClr val="0B6E9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8159E-96E6-43D3-B2C0-FA09D18D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Bedrock routing</a:t>
            </a:r>
          </a:p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llm / embedding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BC3A6-C822-45CD-B3D2-B74BDD76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479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E99"/>
                </a:solidFill>
              </a:defRPr>
            </a:pPr>
            <a:r>
              <a:rPr sz="2100" b="1">
                <a:solidFill>
                  <a:srgbClr val="0B6E9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67FE7-57EC-49C9-8D9A-832A338B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Response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8511B-46AF-45EE-9EAD-19939AFC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Aurora PostgreSQL</a:t>
            </a:r>
          </a:p>
          <a:p xmlns:a="http://schemas.openxmlformats.org/drawingml/2006/main"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database / vector_db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B97DA-29A3-4543-8B39-B9A04CF3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1905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S3 workspace</a:t>
            </a:r>
          </a:p>
          <a:p xmlns:a="http://schemas.openxmlformats.org/drawingml/2006/main"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object_storage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D0E25-8479-41A2-A932-373E6AD4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Fargate WASI</a:t>
            </a:r>
          </a:p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sandbox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D6884-C425-407B-B841-B7E1DC7F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95750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OAuth + KMS</a:t>
            </a:r>
          </a:p>
          <a:p xmlns:a="http://schemas.openxmlformats.org/drawingml/2006/main"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secrets_kms / connectors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2A972-A1B3-4E8B-B660-00B31D3A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580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5803D"/>
                </a:solidFill>
              </a:defRPr>
            </a:pPr>
            <a:r>
              <a:rPr sz="1425" b="1">
                <a:solidFill>
                  <a:srgbClr val="15803D"/>
                </a:solidFill>
              </a:rPr>
              <a:t>cache_queue · backup_dr · monitoring · governance · cicd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7E199-6A73-455E-BAEB-FCC06218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Reference architecture · Singapore proposed; account testing currently limited to Sydney</a:t>
            </a:r>
          </a:p>
        </p:txBody>
      </p:sp>
    </p:spTree>
    <p:extLst>
      <p:ext uri="{BB962C8B-B14F-4D97-AF65-F5344CB8AC3E}">
        <p14:creationId xmlns:p14="http://schemas.microsoft.com/office/powerpoint/2010/main" val="18865743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CF7E3-980A-4A4C-84A2-E2640D1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51798-B3F6-4612-B210-5B0021FD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Luồng xử lý một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D2928-3395-4B45-8510-427AB858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Một request có thể có nhiều LLM calls; tool call không tự sinh thêm LLM call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978F1-8390-4B10-8B20-5316B453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03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B164F-A127-4292-B156-16FC0B5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1571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1  Authn</a:t>
            </a:r>
          </a:p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JWT + MFA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51044-93CD-40BD-A70E-04D971A3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051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6E99"/>
                </a:solidFill>
              </a:defRPr>
            </a:pPr>
            <a:r>
              <a:rPr sz="1875" b="1">
                <a:solidFill>
                  <a:srgbClr val="0B6E99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5E93A-E623-4196-8CE3-64C2994A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28875"/>
            <a:ext cx="1571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2  Authz</a:t>
            </a:r>
          </a:p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RLS + ACL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27B0D-FAA9-40E9-ACA9-1ECC92C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051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6E99"/>
                </a:solidFill>
              </a:defRPr>
            </a:pPr>
            <a:r>
              <a:rPr sz="1875" b="1">
                <a:solidFill>
                  <a:srgbClr val="0B6E9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82AC6-935E-4C77-AC81-BDC0D610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1571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3  RAG</a:t>
            </a:r>
          </a:p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pgvector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FF92B-ACA2-4F4D-8E91-DFBC6F11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051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6E99"/>
                </a:solidFill>
              </a:defRPr>
            </a:pPr>
            <a:r>
              <a:rPr sz="1875" b="1">
                <a:solidFill>
                  <a:srgbClr val="0B6E9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0D87E-EEF1-4AD2-9AF8-1AE9B329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28875"/>
            <a:ext cx="1571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4  Model</a:t>
            </a:r>
          </a:p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route + stream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7CD84-E0A4-4E35-936A-C94A6DC4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051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6E99"/>
                </a:solidFill>
              </a:defRPr>
            </a:pPr>
            <a:r>
              <a:rPr sz="1875" b="1">
                <a:solidFill>
                  <a:srgbClr val="0B6E9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83124-0959-4332-8000-39648DFF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1571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5  Tool</a:t>
            </a:r>
          </a:p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approval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1D53E-E427-4CD2-AD2C-5135B9BA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6E99"/>
                </a:solidFill>
              </a:defRPr>
            </a:pPr>
            <a:r>
              <a:rPr sz="1875" b="1">
                <a:solidFill>
                  <a:srgbClr val="0B6E99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C95A2-55B6-411E-A833-9D48D333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28875"/>
            <a:ext cx="1571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6  Audit</a:t>
            </a:r>
          </a:p>
          <a:p xmlns:a="http://schemas.openxmlformats.org/drawingml/2006/main"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C0AD6-EE7A-47DF-AE2A-B88DDA61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Data boundaries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DB7DC-74A0-476B-86A9-00454107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Connector content is untrusted.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ACL is filtered before top-K retrieval and checked again before download.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OAuth token remains ciphertext; only broker can decrypt.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E3596-5510-422D-9014-066AFC4C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Side effects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15F18-BE33-44C4-8554-3D31153A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send_email / create_ticket / delete_file require approval nonce.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Sandbox receives only the authorized job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Audit records decision and actor without raw secrets.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F9D8F-3B86-474E-BD77-58521D42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AWS ap-southeast-1 · 2 AZ · USD/tháng chưa VAT</a:t>
            </a:r>
          </a:p>
        </p:txBody>
      </p:sp>
    </p:spTree>
    <p:extLst>
      <p:ext uri="{BB962C8B-B14F-4D97-AF65-F5344CB8AC3E}">
        <p14:creationId xmlns:p14="http://schemas.microsoft.com/office/powerpoint/2010/main" val="1624904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8BE95-9117-4519-8B5B-262CCA94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C5AB2-DEC9-4ECC-A15D-3B68167C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Model routing và LLM serving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895A6-2046-47CB-92CE-27C10BBC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Baseline theo bảng giá Singapore do nhóm ghi nhận; chưa thay benchmark bằng giả định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45629-6F69-4E09-8721-C464B714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04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9EA08-F623-4C7B-B91D-DB2D457B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C1 · Nova Micro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1 call/request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2.376B in · 316.8M 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5CAE6-6591-4AED-B198-F9A3190E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C2 · Nova Lite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1 call/request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1.760B in · 264M 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199A5-E5C5-4D4E-9E22-7B67213F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9550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C3 · Nova Lite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2 calls/request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2.376B in · 369.6M 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3509A-8878-4D74-9C6B-2EDFC53E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C4 · Nova Pro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3 calls/request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2.640B in · 422.4M 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9C7C4-8AFC-413E-872D-33059460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C5 · Nova Lite: 1 text call/request · 484M input · 79.2M output · image call tách riêng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6BAB2-9E6C-476A-98E7-A367DE5E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Monthly token estimate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96642-EF13-4AC4-908A-6F246CA3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Nova Micro: $171.23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Nova Lite C2/C3/C5: $605.17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Nova Pro: $4,675.97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LLM subtotal: $5,452.37/month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23C5E-5A4A-4E9F-A9C2-4B1A6580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Known blocker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89234-0BFE-4919-A5DD-F62A96F5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Nova Canvas v1 reached EOL 2026-09-30.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90.000 images remain a requirement, but no production image model is included until a supported replacement is 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 quality score is claimed.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0C556-B8F2-4A1C-B0AD-21D8BFA9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AWS ap-southeast-1 · 2 AZ · USD/tháng chưa VAT</a:t>
            </a:r>
          </a:p>
        </p:txBody>
      </p:sp>
    </p:spTree>
    <p:extLst>
      <p:ext uri="{BB962C8B-B14F-4D97-AF65-F5344CB8AC3E}">
        <p14:creationId xmlns:p14="http://schemas.microsoft.com/office/powerpoint/2010/main" val="2064842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E8499-A4EC-407B-AE79-A2F6DCE1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CFF78-75E3-4ABA-AC0B-FE1DC3FD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Vì sao API thay vì GPU/hybrid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50F65-CDA1-47E2-A8D3-64182616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Định hướng chi phí thấp nhất với tải bursty và chưa có throughput GPU đo được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09D9F-D0FC-4F96-9C56-1C4C4A4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05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87D25-ADB8-48A5-8B59-D5C38F0D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Bedrock API · chọn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88F34-0B65-4605-8D8F-3D50F6D1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Không giữ GPU 24/7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Chi phí gắn model calls/token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Scale theo request và peak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Private endpoint + APAC routing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Dễ đổi model sau eval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C5474-0517-4F2E-A680-6D79D3B0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GPU/hybrid · chưa chốt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68F53-AF81-4507-A644-F2B5F57C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Cần giá GPU, throughput thực đo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Phải cộng replica HA, model storage, network và 1–2 FTE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Chưa có benchmark TTFT/quality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Chỉ chọn khi total GPU &lt; API và đạt H6/H8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Kết luận này là quyết định kiến trúc, chưa phải benchmark.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03EA0-D0CD-4453-91B3-1A77D96B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Model availability, data residency và pricing cần xác minh trong pilot Singapore</a:t>
            </a:r>
          </a:p>
        </p:txBody>
      </p:sp>
    </p:spTree>
    <p:extLst>
      <p:ext uri="{BB962C8B-B14F-4D97-AF65-F5344CB8AC3E}">
        <p14:creationId xmlns:p14="http://schemas.microsoft.com/office/powerpoint/2010/main" val="1501814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970BA-139F-4C8D-867D-2142BCF0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9E2E5-59D0-42B7-91FC-E6642EEC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Connectors và phân quyền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0D378-CFEB-464D-A512-F955BA1F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Identity của user đi xuyên từ IdP đến DB, S3, vector và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82677-EEB3-44EE-ACF2-C2AB4D71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06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21986-1678-419E-A195-3B0858A3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8D729-F125-402D-A6A8-3AAD279E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Corporate IdP → Cognito federation → signed JWT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RBAC: employee / manager / admin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ABAC: tenant, department, classification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OAuth delegated scope tối thiểu; refresh token ciphertext trong DB.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AFC9F-62AE-41D7-9A81-DF30B795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Enforcement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EE5E5-D700-43B4-B0B5-A5712888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PostgreSQL RLS không BYPASSRLS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S3 prefix: users/{user_id}/...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ACL trước vector top-K và trước presigned 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Side effect cần approval nonce + re-authorize.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F7116-4622-4A84-B64E-1EDDD7E2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authn · authz · connectors · database · vector_db · object_storage · secrets_kms</a:t>
            </a:r>
          </a:p>
        </p:txBody>
      </p:sp>
    </p:spTree>
    <p:extLst>
      <p:ext uri="{BB962C8B-B14F-4D97-AF65-F5344CB8AC3E}">
        <p14:creationId xmlns:p14="http://schemas.microsoft.com/office/powerpoint/2010/main" val="2121655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C6E06-35DC-4C2C-B11B-9F05CD56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373D6-B562-4C32-ACB5-1697DA5B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Workspace riêng và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BE742-74FD-46B1-A82C-64D7521F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Fargate + WASI guest: giới hạn capability thay vì tuyên bố zero-risk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8A4D2-EADB-42A0-BA29-83A1FFDC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07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8135B-2207-46AE-9B2B-55C95B50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476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D1B26"/>
                </a:solidFill>
              </a:defRPr>
            </a:pPr>
            <a:r>
              <a:rPr sz="1575" b="1">
                <a:solidFill>
                  <a:srgbClr val="0D1B26"/>
                </a:solidFill>
              </a:rPr>
              <a:t>400k production</a:t>
            </a:r>
          </a:p>
          <a:p xmlns:a="http://schemas.openxmlformats.org/drawingml/2006/main">
            <a:pPr>
              <a:defRPr sz="1575" b="1">
                <a:solidFill>
                  <a:srgbClr val="0D1B26"/>
                </a:solidFill>
              </a:defRPr>
            </a:pPr>
            <a:r>
              <a:rPr sz="1575" b="1">
                <a:solidFill>
                  <a:srgbClr val="0D1B26"/>
                </a:solidFill>
              </a:rPr>
              <a:t>20k staging</a:t>
            </a:r>
          </a:p>
          <a:p xmlns:a="http://schemas.openxmlformats.org/drawingml/2006/main">
            <a:pPr>
              <a:defRPr sz="1575" b="1">
                <a:solidFill>
                  <a:srgbClr val="0D1B26"/>
                </a:solidFill>
              </a:defRPr>
            </a:pPr>
            <a:r>
              <a:rPr sz="1575" b="1">
                <a:solidFill>
                  <a:srgbClr val="0D1B26"/>
                </a:solidFill>
              </a:rPr>
              <a:t>80s billable estimate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7A8B9-FBEC-4AB7-8137-7CF3EDC5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43125"/>
            <a:ext cx="2476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0.5 vCPU · 1 GB</a:t>
            </a:r>
          </a:p>
          <a:p xmlns:a="http://schemas.openxmlformats.org/drawingml/2006/main"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120s hard timeout</a:t>
            </a:r>
          </a:p>
          <a:p xmlns:a="http://schemas.openxmlformats.org/drawingml/2006/main"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1 MB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D6B3C-3E55-463D-B978-151FB67B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43125"/>
            <a:ext cx="2476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No NAT/IGW</a:t>
            </a:r>
          </a:p>
          <a:p xmlns:a="http://schemas.openxmlformats.org/drawingml/2006/main"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ECR/Logs/S3 endpoints</a:t>
            </a:r>
          </a:p>
          <a:p xmlns:a="http://schemas.openxmlformats.org/drawingml/2006/main"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no task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E7CEB-3052-4C17-B323-7BE5DAC8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43125"/>
            <a:ext cx="2476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128 task peak</a:t>
            </a:r>
          </a:p>
          <a:p xmlns:a="http://schemas.openxmlformats.org/drawingml/2006/main"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64 vCPU</a:t>
            </a:r>
          </a:p>
          <a:p xmlns:a="http://schemas.openxmlformats.org/drawingml/2006/main"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quota ≥96 vCPU 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5C886-A7DA-4F3E-A9DC-472BEF32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Cùng task không phải security boundary: guest WASI không socket, không host path, không AWS credential. Code native/pip install runtime không nằm trong baseline; nếu cần phải báo giá lại Firecracker/Kata.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497A3-A194-4F26-8AE3-FC1785B5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45309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45309"/>
                </a:solidFill>
              </a:defRPr>
            </a:pPr>
            <a:r>
              <a:rPr sz="1575" b="1">
                <a:solidFill>
                  <a:srgbClr val="B45309"/>
                </a:solidFill>
              </a:rPr>
              <a:t>Sandbox cost: $287.46/month · endpoints riêng đã nằm trong sandbox, không cộng lại network.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AD99E-AAD7-4011-9AE1-148AA21D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AWS ap-southeast-1 · 2 AZ · USD/tháng chưa VAT</a:t>
            </a:r>
          </a:p>
        </p:txBody>
      </p:sp>
    </p:spTree>
    <p:extLst>
      <p:ext uri="{BB962C8B-B14F-4D97-AF65-F5344CB8AC3E}">
        <p14:creationId xmlns:p14="http://schemas.microsoft.com/office/powerpoint/2010/main" val="1285082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E934A-E9DC-46F9-AC7D-35E07DC6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38DA3-7618-4F64-89A0-3A91507C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AI governance và data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D8DB1-1F61-4AD1-BC90-3B2A3E06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Guardrails Standard hỗ trợ tiếng Việt nhưng có xử lý cross-Region APAC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F93B3-9790-44BD-AFA3-5D52AEF6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08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71050-B463-4033-8323-4DDDDD95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Before / after inference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9427F-6D68-4C52-8B24-E4D93199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Before: classification → DLP/PII → prompt attack →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After: output guardrail → DLP → ACL → response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Connector data is untrusted; tool result gets separate prompt-attack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07A01-0ECA-4194-804C-138FE2FA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Human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E1BEE-1946-47FF-8BEC-4C412DCA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send_email / ticket / delete file: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proposal → payload hash → approval nonce → re-authz → execute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Audit 12 months Object Lock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 raw prompt, token, key in logs.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D9D2E-8883-4F90-9CFA-AF0D55EA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45309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45309"/>
                </a:solidFill>
              </a:defRPr>
            </a:pPr>
            <a:r>
              <a:rPr sz="1575" b="1">
                <a:solidFill>
                  <a:srgbClr val="B45309"/>
                </a:solidFill>
              </a:rPr>
              <a:t>Governance + audit subtotal: $1,966.36/month · model/image inference charges are separate.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801AF-9BAA-4029-B599-D46FF99E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H4/H5 designed; guardrail language/residency and H8 safety still require pilot evidence</a:t>
            </a:r>
          </a:p>
        </p:txBody>
      </p:sp>
    </p:spTree>
    <p:extLst>
      <p:ext uri="{BB962C8B-B14F-4D97-AF65-F5344CB8AC3E}">
        <p14:creationId xmlns:p14="http://schemas.microsoft.com/office/powerpoint/2010/main" val="13811946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D8945-2F8C-42B9-ABEA-AA808541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D0085-0463-424E-8D7D-CB43A336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HA, backup và DR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C8871-927F-407E-B99F-D265C402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Thiết kế multi-AZ; RTO/RPO là mục tiêu cần restore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03B02-580B-4FA1-B3EF-0E021DB1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09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16A68-D7C6-4F27-90B3-9FA2836C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2 AZ</a:t>
            </a:r>
          </a:p>
          <a:p xmlns:a="http://schemas.openxmlformats.org/drawingml/2006/main"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ALB +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FEE93-05A5-4B28-AA29-B76F79A7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RDS PostgreSQL</a:t>
            </a:r>
          </a:p>
          <a:p xmlns:a="http://schemas.openxmlformats.org/drawingml/2006/main"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Multi-AZ prod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6191E-E13D-40C2-9B10-40096AA2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33625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S3 workspace</a:t>
            </a:r>
          </a:p>
          <a:p xmlns:a="http://schemas.openxmlformats.org/drawingml/2006/main"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replica + Object 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97342-1B22-49AD-BA6D-8DC59D9C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Backup</a:t>
            </a:r>
          </a:p>
          <a:p xmlns:a="http://schemas.openxmlformats.org/drawingml/2006/main"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restore drill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1C6F5-8E0F-44F1-AA2D-CDACB157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428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RTO 4h</a:t>
            </a:r>
          </a:p>
          <a:p xmlns:a="http://schemas.openxmlformats.org/drawingml/2006/main"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RPO 1h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96B93-C699-4D2B-AAD6-72086B6C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Thành subtotal: $1,436.46/month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No cross-Region DR cost is added to baseline; loss of Singapore requires a separate regional DR decision and price.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12FAF-D351-4523-9C22-22532852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Status</a:t>
            </a:r>
          </a:p>
          <a:p xmlns:a="http://schemas.openxmlformats.org/drawingml/2006/main"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Designed: multi-AZ, backup policy, restore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Not verified: failover, restore timing, 99.5% availability under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5CC37-80D8-4C61-8041-A5B1D5FF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H7 is a design target until failover and restore drills complete</a:t>
            </a:r>
          </a:p>
        </p:txBody>
      </p:sp>
    </p:spTree>
    <p:extLst>
      <p:ext uri="{BB962C8B-B14F-4D97-AF65-F5344CB8AC3E}">
        <p14:creationId xmlns:p14="http://schemas.microsoft.com/office/powerpoint/2010/main" val="7519043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6C6D8-E986-4394-B597-B122D205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DAE6A-B38F-4626-A733-A83FE036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Monitoring và FinOps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E1437-DC2D-4654-9BC6-3C1EC332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Theo dõi usage ledger thay vì tạo 2.000 metric dimensions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3FFDF-0DFC-4C42-99BA-3B3ABDD1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10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2B0B8-528C-4DA8-8F38-F1771D04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2BACF-5E6A-480A-A439-8599183D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TTFT p50/p95 · model calls · tokens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4xx/5xx/throttle · queue age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sandbox timeout/egress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ACL denies · KMS decrypt anomaly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Guardrail blocks · budget 50/80/100%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40B09-330D-45E0-B9EE-6B78952B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Cost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17234-4A2F-481C-A195-3FCC7C44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Usage ledger theo user/department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Quota theo user + 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Giảm image/agent cấp cao trước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Không tắt DLP/audit khi vượt budget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Monitoring subtotal Tú: $25.26/month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C7EA2-0BE1-4DFD-A912-385E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monitoring · governance · gateway · cache_queue · cicd</a:t>
            </a:r>
          </a:p>
        </p:txBody>
      </p:sp>
    </p:spTree>
    <p:extLst>
      <p:ext uri="{BB962C8B-B14F-4D97-AF65-F5344CB8AC3E}">
        <p14:creationId xmlns:p14="http://schemas.microsoft.com/office/powerpoint/2010/main" val="16180122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62884-9EDF-4CFF-8713-35D2B251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FC37A-10AB-4151-B732-68A7D507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Chi phí tháng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9979C-F220-45E1-8234-CA98CE27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TOTAL khớp công thức SUM trong Excel; image generation chưa được cộng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0D1D8-299A-45DF-B820-A15DEB9A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5D6FF-830C-4D74-8E36-74CD75FC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666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Ops labor                         $6,000.00</a:t>
            </a:r>
          </a:p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LLM serving                       $5,452.37</a:t>
            </a:r>
          </a:p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Tú: security/sandbox/ops          $2,321.63</a:t>
            </a:r>
          </a:p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Thành: data/cloud/DR              $1,436.46</a:t>
            </a:r>
          </a:p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Contingency 10%                   $1,524.94</a:t>
            </a:r>
          </a:p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Embedding + gateway + licenses    $38.96</a:t>
            </a:r>
          </a:p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────────────────────────────────────────</a:t>
            </a:r>
          </a:p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TOTAL                             $16,774.36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$8.39 / DAU / month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85452-B96A-4229-8B43-A39B78C0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Priced subtotal</a:t>
            </a:r>
          </a:p>
          <a:p xmlns:a="http://schemas.openxmlformats.org/drawingml/2006/main"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$15,249.42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BC680-75D3-40DD-8E79-BFE8B48B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Contingency</a:t>
            </a:r>
          </a:p>
          <a:p xmlns:a="http://schemas.openxmlformats.org/drawingml/2006/main"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$1,524.94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EAA24-7455-485D-BCC8-3E9D89C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91C1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Image generation: 90k volume remains a blocker; Nova Canvas EOL means no unsupported $0.04/image charge is included.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BE72C-AECE-4317-837B-6B5E44DE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AWS ap-southeast-1 · 2 AZ · USD/tháng chưa VAT</a:t>
            </a:r>
          </a:p>
        </p:txBody>
      </p:sp>
    </p:spTree>
    <p:extLst>
      <p:ext uri="{BB962C8B-B14F-4D97-AF65-F5344CB8AC3E}">
        <p14:creationId xmlns:p14="http://schemas.microsoft.com/office/powerpoint/2010/main" val="148531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1C28F-E719-4CDF-8D70-AD6421D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C76A6-B1C1-4FA6-8517-85EDAAA0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Rủi ro, giới hạn kiểm chứng và mở rộng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38EB3-F064-4BC2-9C4D-A475604D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Nộp được hai file; không biến mục tiêu thiết kế thành kết quả đo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F17F3-D781-4EDD-A9C8-0B70A314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12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24C62-CD4A-4243-A370-FF0D16EC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EDF6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Chưa thể xác minh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0A9FF-B585-4DDA-A77E-2FD7119E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AWS account thực hành bị giới hạn Sydney; Singapore chưa chạy trực tiếp.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H6: chưa có TTFT p95 ≤3s benchmark.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H7: chưa có failover/restore drill.</a:t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H8: chưa có ≥95% quality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Image production model: blocker.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A972C-4941-491D-87FB-3577E3A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095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E99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Khi lên 4.000 DAU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1F4CF-3215-4D01-AC02-BBB3B297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24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0D1B2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Requests, calls, tokens, storage, WAF/egress và guardrail text units tăng gần tuyến tính.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Review quota Fargate ≥96 vCPU, DB tier, queue, log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Rerun sizing.py + cost workbook; re-evaluate API/GPU only with measured throughput.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8BACC-4474-4722-963C-5BD2CF3F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4530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Kết luận: architecture proposed for Singapore · cost working estimate · open verification items are explicitly listed.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BF313-1F1F-4EA3-9479-46990F88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F6270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G03 · 12 slides · 7-minute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3358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2026-10-16T04:54:54.7320000Z</dcterms:created>
  <dcterms:modified xsi:type="dcterms:W3CDTF">2026-10-16T04:54:54.7320000Z</dcterms:modified>
</coreProperties>
</file>