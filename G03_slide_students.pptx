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Rectangle 15"/>
          <p:cNvSpPr>
            <a:spLocks noGrp="1"/>
          </p:cNvSpPr>
          <p:nvPr/>
        </p:nvSpPr>
        <p:spPr>
          <a:xfrm>
            <a:off x="533400" y="2857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0B6E99"/>
                </a:solidFill>
              </a:defRPr>
            </a:defPPr>
          </a:lstStyle>
          <a:p>
            <a:pPr>
              <a:defRPr sz="975" b="1">
                <a:solidFill>
                  <a:srgbClr val="0B6E99"/>
                </a:solidFill>
              </a:defRPr>
            </a:pPr>
            <a:r>
              <a:rPr sz="975" b="1">
                <a:solidFill>
                  <a:srgbClr val="0B6E99"/>
                </a:solidFill>
              </a:rPr>
              <a:t>VBOT WORKPLACE · G03</a:t>
            </a:r>
            <a:endParaRPr sz="975" b="1">
              <a:solidFill>
                <a:srgbClr val="0B6E99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33400" y="6477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0D1B26"/>
                </a:solidFill>
              </a:defRPr>
            </a:defPPr>
          </a:lstStyle>
          <a:p>
            <a:pPr>
              <a:defRPr sz="2550" b="1">
                <a:solidFill>
                  <a:srgbClr val="0D1B26"/>
                </a:solidFill>
              </a:defRPr>
            </a:pPr>
            <a:r>
              <a:rPr sz="2550" b="1">
                <a:solidFill>
                  <a:srgbClr val="0D1B26"/>
                </a:solidFill>
              </a:rPr>
              <a:t>Giả định và tính tải</a:t>
            </a:r>
            <a:endParaRPr sz="2550" b="1">
              <a:solidFill>
                <a:srgbClr val="0D1B26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33400" y="1181100"/>
            <a:ext cx="1104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4F6270"/>
                </a:solidFill>
              </a:defRPr>
            </a:defPPr>
          </a:lstStyle>
          <a:p>
            <a:pPr>
              <a:defRPr sz="1275" b="0">
                <a:solidFill>
                  <a:srgbClr val="4F6270"/>
                </a:solidFill>
              </a:defRPr>
            </a:pPr>
            <a:r>
              <a:rPr sz="1275" b="0">
                <a:solidFill>
                  <a:srgbClr val="4F6270"/>
                </a:solidFill>
              </a:rPr>
              <a:t>Nguồn sự thật: sizing.py · token/model-call là giả định trước telemetry</a:t>
            </a:r>
            <a:endParaRPr sz="1275" b="0">
              <a:solidFill>
                <a:srgbClr val="4F6270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0953750" y="28575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4F6270"/>
                </a:solidFill>
              </a:defRPr>
            </a:defPPr>
          </a:lstStyle>
          <a:p>
            <a:pPr>
              <a:defRPr sz="975" b="1">
                <a:solidFill>
                  <a:srgbClr val="4F6270"/>
                </a:solidFill>
              </a:defRPr>
            </a:pPr>
            <a:r>
              <a:rPr sz="975" b="1">
                <a:solidFill>
                  <a:srgbClr val="4F6270"/>
                </a:solidFill>
              </a:rPr>
              <a:t>01 / 12</a:t>
            </a:r>
            <a:endParaRPr sz="975" b="1">
              <a:solidFill>
                <a:srgbClr val="4F6270"/>
              </a:solidFill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533400" y="1524000"/>
            <a:ext cx="110490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975" b="1">
                <a:solidFill>
                  <a:srgbClr val="0D1B26"/>
                </a:solidFill>
              </a:defRPr>
            </a:defPPr>
          </a:lstStyle>
          <a:p>
            <a:pPr>
              <a:defRPr sz="975" b="1">
                <a:solidFill>
                  <a:srgbClr val="0D1B26"/>
                </a:solidFill>
              </a:defRPr>
            </a:pPr>
            <a:r>
              <a:rPr sz="975" b="1">
                <a:solidFill>
                  <a:srgbClr val="0D1B26"/>
                </a:solidFill>
              </a:rPr>
              <a:t>Học viên: Trần Tuấn Tú · 2A202602840    |    Đinh Ngọc Đức · 2A202602935    |    Nguyễn Đình Phúc · 2A202602953</a:t>
            </a:r>
            <a:endParaRPr sz="975" b="1">
              <a:solidFill>
                <a:srgbClr val="0D1B26"/>
              </a:solidFill>
            </a:endParaRPr>
          </a:p>
          <a:p>
            <a:pPr>
              <a:defRPr sz="975" b="1">
                <a:solidFill>
                  <a:srgbClr val="0D1B26"/>
                </a:solidFill>
              </a:defRPr>
            </a:pPr>
            <a:r>
              <a:rPr sz="975" b="1">
                <a:solidFill>
                  <a:srgbClr val="0D1B26"/>
                </a:solidFill>
              </a:rPr>
              <a:t>Nguyễn Việt Thành · 2A202602924    |    Đoàn Tuấn Long · 2A202602609</a:t>
            </a:r>
            <a:endParaRPr sz="975" b="1">
              <a:solidFill>
                <a:srgbClr val="0D1B26"/>
              </a:solidFill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533400" y="2047875"/>
            <a:ext cx="200025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D1B26"/>
                </a:solidFill>
              </a:defRPr>
            </a:defPPr>
          </a:lstStyle>
          <a:p>
            <a:pPr>
              <a:defRPr sz="1725" b="1">
                <a:solidFill>
                  <a:srgbClr val="0D1B26"/>
                </a:solidFill>
              </a:defRPr>
            </a:pPr>
            <a:r>
              <a:rPr sz="1725" b="1">
                <a:solidFill>
                  <a:srgbClr val="0D1B26"/>
                </a:solidFill>
              </a:rPr>
              <a:t>1.760M</a:t>
            </a:r>
            <a:endParaRPr sz="1725" b="1">
              <a:solidFill>
                <a:srgbClr val="0D1B26"/>
              </a:solidFill>
            </a:endParaRPr>
          </a:p>
          <a:p>
            <a:pPr>
              <a:defRPr sz="1725" b="1">
                <a:solidFill>
                  <a:srgbClr val="0D1B26"/>
                </a:solidFill>
              </a:defRPr>
            </a:pPr>
            <a:r>
              <a:rPr sz="1725" b="1">
                <a:solidFill>
                  <a:srgbClr val="0D1B26"/>
                </a:solidFill>
              </a:rPr>
              <a:t>requests/tháng</a:t>
            </a:r>
            <a:endParaRPr sz="1725" b="1">
              <a:solidFill>
                <a:srgbClr val="0D1B26"/>
              </a:solidFill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2724150" y="2047875"/>
            <a:ext cx="2000250" cy="1047750"/>
          </a:xfrm>
          <a:prstGeom prst="roundRect">
            <a:avLst>
              <a:gd name="adj" fmla="val 7273"/>
            </a:avLst>
          </a:prstGeom>
          <a:solidFill>
            <a:srgbClr val="D9EDF6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D1B26"/>
                </a:solidFill>
              </a:defRPr>
            </a:defPPr>
          </a:lstStyle>
          <a:p>
            <a:pPr>
              <a:defRPr sz="1725" b="1">
                <a:solidFill>
                  <a:srgbClr val="0D1B26"/>
                </a:solidFill>
              </a:defRPr>
            </a:pPr>
            <a:r>
              <a:rPr sz="1725" b="1">
                <a:solidFill>
                  <a:srgbClr val="0D1B26"/>
                </a:solidFill>
              </a:rPr>
              <a:t>2.376M</a:t>
            </a:r>
            <a:endParaRPr sz="1725" b="1">
              <a:solidFill>
                <a:srgbClr val="0D1B26"/>
              </a:solidFill>
            </a:endParaRPr>
          </a:p>
          <a:p>
            <a:pPr>
              <a:defRPr sz="1725" b="1">
                <a:solidFill>
                  <a:srgbClr val="0D1B26"/>
                </a:solidFill>
              </a:defRPr>
            </a:pPr>
            <a:r>
              <a:rPr sz="1725" b="1">
                <a:solidFill>
                  <a:srgbClr val="0D1B26"/>
                </a:solidFill>
              </a:rPr>
              <a:t>model calls</a:t>
            </a:r>
            <a:endParaRPr sz="1725" b="1">
              <a:solidFill>
                <a:srgbClr val="0D1B26"/>
              </a:solidFill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4914900" y="2047875"/>
            <a:ext cx="219075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650" b="1">
                <a:solidFill>
                  <a:srgbClr val="0D1B26"/>
                </a:solidFill>
              </a:defRPr>
            </a:defPPr>
          </a:lstStyle>
          <a:p>
            <a:pPr>
              <a:defRPr sz="1650" b="1">
                <a:solidFill>
                  <a:srgbClr val="0D1B26"/>
                </a:solidFill>
              </a:defRPr>
            </a:pPr>
            <a:r>
              <a:rPr sz="1650" b="1">
                <a:solidFill>
                  <a:srgbClr val="0D1B26"/>
                </a:solidFill>
              </a:rPr>
              <a:t>9.636B input</a:t>
            </a:r>
            <a:endParaRPr sz="1650" b="1">
              <a:solidFill>
                <a:srgbClr val="0D1B26"/>
              </a:solidFill>
            </a:endParaRPr>
          </a:p>
          <a:p>
            <a:pPr>
              <a:defRPr sz="1650" b="1">
                <a:solidFill>
                  <a:srgbClr val="0D1B26"/>
                </a:solidFill>
              </a:defRPr>
            </a:pPr>
            <a:r>
              <a:rPr sz="1650" b="1">
                <a:solidFill>
                  <a:srgbClr val="0D1B26"/>
                </a:solidFill>
              </a:rPr>
              <a:t>1.452B output</a:t>
            </a:r>
            <a:endParaRPr sz="1650" b="1">
              <a:solidFill>
                <a:srgbClr val="0D1B26"/>
              </a:solidFill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7296150" y="2047875"/>
            <a:ext cx="20955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575" b="1">
                <a:solidFill>
                  <a:srgbClr val="0D1B26"/>
                </a:solidFill>
              </a:defRPr>
            </a:defPPr>
          </a:lstStyle>
          <a:p>
            <a:pPr>
              <a:defRPr sz="1575" b="1">
                <a:solidFill>
                  <a:srgbClr val="0D1B26"/>
                </a:solidFill>
              </a:defRPr>
            </a:pPr>
            <a:r>
              <a:rPr sz="1575" b="1">
                <a:solidFill>
                  <a:srgbClr val="0D1B26"/>
                </a:solidFill>
              </a:rPr>
              <a:t>6.67 req/s</a:t>
            </a:r>
            <a:endParaRPr sz="1575" b="1">
              <a:solidFill>
                <a:srgbClr val="0D1B26"/>
              </a:solidFill>
            </a:endParaRPr>
          </a:p>
          <a:p>
            <a:pPr>
              <a:defRPr sz="1575" b="1">
                <a:solidFill>
                  <a:srgbClr val="0D1B26"/>
                </a:solidFill>
              </a:defRPr>
            </a:pPr>
            <a:r>
              <a:rPr sz="1575" b="1">
                <a:solidFill>
                  <a:srgbClr val="0D1B26"/>
                </a:solidFill>
              </a:rPr>
              <a:t>9.00 calls/s peak</a:t>
            </a:r>
            <a:endParaRPr sz="1575" b="1">
              <a:solidFill>
                <a:srgbClr val="0D1B26"/>
              </a:solidFill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9582150" y="2047875"/>
            <a:ext cx="2000250" cy="1047750"/>
          </a:xfrm>
          <a:prstGeom prst="roundRect">
            <a:avLst>
              <a:gd name="adj" fmla="val 7273"/>
            </a:avLst>
          </a:prstGeom>
          <a:solidFill>
            <a:srgbClr val="D9EDF6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650" b="1">
                <a:solidFill>
                  <a:srgbClr val="0D1B26"/>
                </a:solidFill>
              </a:defRPr>
            </a:defPPr>
          </a:lstStyle>
          <a:p>
            <a:pPr>
              <a:defRPr sz="1650" b="1">
                <a:solidFill>
                  <a:srgbClr val="0D1B26"/>
                </a:solidFill>
              </a:defRPr>
            </a:pPr>
            <a:r>
              <a:rPr sz="1650" b="1">
                <a:solidFill>
                  <a:srgbClr val="0D1B26"/>
                </a:solidFill>
              </a:rPr>
              <a:t>6.100 GB</a:t>
            </a:r>
            <a:endParaRPr sz="1650" b="1">
              <a:solidFill>
                <a:srgbClr val="0D1B26"/>
              </a:solidFill>
            </a:endParaRPr>
          </a:p>
          <a:p>
            <a:pPr>
              <a:defRPr sz="1650" b="1">
                <a:solidFill>
                  <a:srgbClr val="0D1B26"/>
                </a:solidFill>
              </a:defRPr>
            </a:pPr>
            <a:r>
              <a:rPr sz="1650" b="1">
                <a:solidFill>
                  <a:srgbClr val="0D1B26"/>
                </a:solidFill>
              </a:rPr>
              <a:t>prod + stage</a:t>
            </a:r>
            <a:endParaRPr sz="1650" b="1">
              <a:solidFill>
                <a:srgbClr val="0D1B26"/>
              </a:solidFill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533400" y="3667125"/>
            <a:ext cx="5095875" cy="400050"/>
          </a:xfrm>
          <a:prstGeom prst="roundRect">
            <a:avLst>
              <a:gd name="adj" fmla="val 19048"/>
            </a:avLst>
          </a:prstGeom>
          <a:solidFill>
            <a:srgbClr val="D9EDF6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425" b="1">
                <a:solidFill>
                  <a:srgbClr val="0B6E99"/>
                </a:solidFill>
              </a:defRPr>
            </a:defPPr>
          </a:lstStyle>
          <a:p>
            <a:pPr>
              <a:defRPr sz="1425" b="1">
                <a:solidFill>
                  <a:srgbClr val="0B6E99"/>
                </a:solidFill>
              </a:defRPr>
            </a:pPr>
            <a:r>
              <a:rPr sz="1425" b="1">
                <a:solidFill>
                  <a:srgbClr val="0B6E99"/>
                </a:solidFill>
              </a:rPr>
              <a:t>Công thức</a:t>
            </a:r>
            <a:endParaRPr sz="1425" b="1">
              <a:solidFill>
                <a:srgbClr val="0B6E99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685800" y="4238625"/>
            <a:ext cx="47625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D1B26"/>
                </a:solidFill>
              </a:defRPr>
            </a:defPPr>
          </a:lstStyle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2.000 DAU × 22 × 40 = 1.760.000 requests</a:t>
            </a:r>
            <a:endParaRPr sz="1425" b="0">
              <a:solidFill>
                <a:srgbClr val="0D1B26"/>
              </a:solidFill>
            </a:endParaRPr>
          </a:p>
          <a:p>
            <a:endParaRPr sz="1425"/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Giờ hành chính = 220h</a:t>
            </a:r>
            <a:endParaRPr sz="1425" b="0">
              <a:solidFill>
                <a:srgbClr val="0D1B26"/>
              </a:solidFill>
            </a:endParaRPr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1.760.000 ÷ 792.000s = 2,22 req/s</a:t>
            </a:r>
            <a:endParaRPr sz="1425" b="0">
              <a:solidFill>
                <a:srgbClr val="0D1B26"/>
              </a:solidFill>
            </a:endParaRPr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×3 peak = 6,67 req/s</a:t>
            </a:r>
            <a:endParaRPr sz="1425" b="0">
              <a:solidFill>
                <a:srgbClr val="0D1B26"/>
              </a:solidFill>
            </a:endParaRPr>
          </a:p>
          <a:p>
            <a:endParaRPr sz="1425"/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400.000 sandbox workload × 30s</a:t>
            </a:r>
            <a:endParaRPr sz="1425" b="0">
              <a:solidFill>
                <a:srgbClr val="0D1B26"/>
              </a:solidFill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6096000" y="3667125"/>
            <a:ext cx="5095875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425" b="1">
                <a:solidFill>
                  <a:srgbClr val="0B6E99"/>
                </a:solidFill>
              </a:defRPr>
            </a:defPPr>
          </a:lstStyle>
          <a:p>
            <a:pPr>
              <a:defRPr sz="1425" b="1">
                <a:solidFill>
                  <a:srgbClr val="0B6E99"/>
                </a:solidFill>
              </a:defRPr>
            </a:pPr>
            <a:r>
              <a:rPr sz="1425" b="1">
                <a:solidFill>
                  <a:srgbClr val="0B6E99"/>
                </a:solidFill>
              </a:rPr>
              <a:t>Phạm vi</a:t>
            </a:r>
            <a:endParaRPr sz="1425" b="1">
              <a:solidFill>
                <a:srgbClr val="0B6E99"/>
              </a:solidFill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6248400" y="4238625"/>
            <a:ext cx="47625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D1B26"/>
                </a:solidFill>
              </a:defRPr>
            </a:defPPr>
          </a:lstStyle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90.000 ảnh/tháng là volume riêng.</a:t>
            </a:r>
            <a:endParaRPr sz="1425" b="0">
              <a:solidFill>
                <a:srgbClr val="0D1B26"/>
              </a:solidFill>
            </a:endParaRPr>
          </a:p>
          <a:p>
            <a:endParaRPr sz="1425"/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Production storage: 2.000 × 3 GB = 6.000 GB</a:t>
            </a:r>
            <a:endParaRPr sz="1425" b="0">
              <a:solidFill>
                <a:srgbClr val="0D1B26"/>
              </a:solidFill>
            </a:endParaRPr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Staging storage: 100 GB</a:t>
            </a:r>
            <a:endParaRPr sz="1425" b="0">
              <a:solidFill>
                <a:srgbClr val="0D1B26"/>
              </a:solidFill>
            </a:endParaRPr>
          </a:p>
          <a:p>
            <a:endParaRPr sz="1425"/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Fargate billing theo lifetime; sandbox cost dùng handoff Tú 80s billable giả định.</a:t>
            </a:r>
            <a:endParaRPr sz="1425" b="0">
              <a:solidFill>
                <a:srgbClr val="0D1B26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533400" y="6477000"/>
            <a:ext cx="1104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4F6270"/>
                </a:solidFill>
              </a:defRPr>
            </a:defPPr>
          </a:lstStyle>
          <a:p>
            <a:pPr>
              <a:defRPr sz="900" b="0">
                <a:solidFill>
                  <a:srgbClr val="4F6270"/>
                </a:solidFill>
              </a:defRPr>
            </a:pPr>
            <a:r>
              <a:rPr sz="900" b="0">
                <a:solidFill>
                  <a:srgbClr val="4F6270"/>
                </a:solidFill>
              </a:rPr>
              <a:t>AWS ap-southeast-1 · 2 AZ · USD/tháng chưa VAT</a:t>
            </a:r>
            <a:endParaRPr sz="900" b="0">
              <a:solidFill>
                <a:srgbClr val="4F627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Rectangle 19"/>
          <p:cNvSpPr>
            <a:spLocks noGrp="1"/>
          </p:cNvSpPr>
          <p:nvPr/>
        </p:nvSpPr>
        <p:spPr>
          <a:xfrm>
            <a:off x="533400" y="2857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0B6E99"/>
                </a:solidFill>
              </a:defRPr>
            </a:defPPr>
          </a:lstStyle>
          <a:p>
            <a:pPr>
              <a:defRPr sz="975" b="1">
                <a:solidFill>
                  <a:srgbClr val="0B6E99"/>
                </a:solidFill>
              </a:defRPr>
            </a:pPr>
            <a:r>
              <a:rPr sz="975" b="1">
                <a:solidFill>
                  <a:srgbClr val="0B6E99"/>
                </a:solidFill>
              </a:rPr>
              <a:t>VBOT WORKPLACE · G03</a:t>
            </a:r>
            <a:endParaRPr sz="975" b="1">
              <a:solidFill>
                <a:srgbClr val="0B6E99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33400" y="6477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0D1B26"/>
                </a:solidFill>
              </a:defRPr>
            </a:defPPr>
          </a:lstStyle>
          <a:p>
            <a:pPr>
              <a:defRPr sz="2550" b="1">
                <a:solidFill>
                  <a:srgbClr val="0D1B26"/>
                </a:solidFill>
              </a:defRPr>
            </a:pPr>
            <a:r>
              <a:rPr sz="2550" b="1">
                <a:solidFill>
                  <a:srgbClr val="0D1B26"/>
                </a:solidFill>
              </a:rPr>
              <a:t>Kiến trúc tổng thể</a:t>
            </a:r>
            <a:endParaRPr sz="2550" b="1">
              <a:solidFill>
                <a:srgbClr val="0D1B26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33400" y="1181100"/>
            <a:ext cx="1104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4F6270"/>
                </a:solidFill>
              </a:defRPr>
            </a:defPPr>
          </a:lstStyle>
          <a:p>
            <a:pPr>
              <a:defRPr sz="1275" b="0">
                <a:solidFill>
                  <a:srgbClr val="4F6270"/>
                </a:solidFill>
              </a:defRPr>
            </a:pPr>
            <a:r>
              <a:rPr sz="1275" b="0">
                <a:solidFill>
                  <a:srgbClr val="4F6270"/>
                </a:solidFill>
              </a:rPr>
              <a:t>Mỗi hộp gắn mã component của báo giá</a:t>
            </a:r>
            <a:endParaRPr sz="1275" b="0">
              <a:solidFill>
                <a:srgbClr val="4F6270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0953750" y="28575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4F6270"/>
                </a:solidFill>
              </a:defRPr>
            </a:defPPr>
          </a:lstStyle>
          <a:p>
            <a:pPr>
              <a:defRPr sz="975" b="1">
                <a:solidFill>
                  <a:srgbClr val="4F6270"/>
                </a:solidFill>
              </a:defRPr>
            </a:pPr>
            <a:r>
              <a:rPr sz="975" b="1">
                <a:solidFill>
                  <a:srgbClr val="4F6270"/>
                </a:solidFill>
              </a:rPr>
              <a:t>02 / 12</a:t>
            </a:r>
            <a:endParaRPr sz="975" b="1">
              <a:solidFill>
                <a:srgbClr val="4F6270"/>
              </a:solidFill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533400" y="2381250"/>
            <a:ext cx="1476375" cy="895350"/>
          </a:xfrm>
          <a:prstGeom prst="roundRect">
            <a:avLst>
              <a:gd name="adj" fmla="val 8511"/>
            </a:avLst>
          </a:prstGeom>
          <a:solidFill>
            <a:srgbClr val="D9EDF6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350" b="1">
                <a:solidFill>
                  <a:srgbClr val="0D1B26"/>
                </a:solidFill>
              </a:defRPr>
            </a:defPPr>
          </a:lstStyle>
          <a:p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User</a:t>
            </a:r>
            <a:endParaRPr sz="1350" b="1">
              <a:solidFill>
                <a:srgbClr val="0D1B26"/>
              </a:solidFill>
            </a:endParaRPr>
          </a:p>
          <a:p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SSO/MFA</a:t>
            </a:r>
            <a:endParaRPr sz="1350" b="1">
              <a:solidFill>
                <a:srgbClr val="0D1B26"/>
              </a:solidFill>
            </a:endParaRPr>
          </a:p>
          <a:p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authn</a:t>
            </a:r>
            <a:endParaRPr sz="1350" b="1">
              <a:solidFill>
                <a:srgbClr val="0D1B26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2095500" y="26479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0B6E99"/>
                </a:solidFill>
              </a:defRPr>
            </a:defPPr>
          </a:lstStyle>
          <a:p>
            <a:pPr>
              <a:defRPr sz="2100" b="1">
                <a:solidFill>
                  <a:srgbClr val="0B6E99"/>
                </a:solidFill>
              </a:defRPr>
            </a:pPr>
            <a:r>
              <a:rPr sz="2100" b="1">
                <a:solidFill>
                  <a:srgbClr val="0B6E99"/>
                </a:solidFill>
              </a:rPr>
              <a:t>→</a:t>
            </a:r>
            <a:endParaRPr sz="2100" b="1">
              <a:solidFill>
                <a:srgbClr val="0B6E99"/>
              </a:solidFill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2476500" y="2381250"/>
            <a:ext cx="20002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275" b="1">
                <a:solidFill>
                  <a:srgbClr val="0D1B26"/>
                </a:solidFill>
              </a:defRPr>
            </a:defPPr>
          </a:lstStyle>
          <a:p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WAF + ALB</a:t>
            </a:r>
            <a:endParaRPr sz="1275" b="1">
              <a:solidFill>
                <a:srgbClr val="0D1B26"/>
              </a:solidFill>
            </a:endParaRPr>
          </a:p>
          <a:p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network / load_balancer</a:t>
            </a:r>
            <a:endParaRPr sz="1275" b="1">
              <a:solidFill>
                <a:srgbClr val="0D1B26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4572000" y="26479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0B6E99"/>
                </a:solidFill>
              </a:defRPr>
            </a:defPPr>
          </a:lstStyle>
          <a:p>
            <a:pPr>
              <a:defRPr sz="2100" b="1">
                <a:solidFill>
                  <a:srgbClr val="0B6E99"/>
                </a:solidFill>
              </a:defRPr>
            </a:pPr>
            <a:r>
              <a:rPr sz="2100" b="1">
                <a:solidFill>
                  <a:srgbClr val="0B6E99"/>
                </a:solidFill>
              </a:rPr>
              <a:t>→</a:t>
            </a:r>
            <a:endParaRPr sz="2100" b="1">
              <a:solidFill>
                <a:srgbClr val="0B6E99"/>
              </a:solidFill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4953000" y="2381250"/>
            <a:ext cx="19050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275" b="1">
                <a:solidFill>
                  <a:srgbClr val="0D1B26"/>
                </a:solidFill>
              </a:defRPr>
            </a:defPPr>
          </a:lstStyle>
          <a:p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Fargate app</a:t>
            </a:r>
            <a:endParaRPr sz="1275" b="1">
              <a:solidFill>
                <a:srgbClr val="0D1B26"/>
              </a:solidFill>
            </a:endParaRPr>
          </a:p>
          <a:p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compute / gateway</a:t>
            </a:r>
            <a:endParaRPr sz="1275" b="1">
              <a:solidFill>
                <a:srgbClr val="0D1B26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6953250" y="26479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0B6E99"/>
                </a:solidFill>
              </a:defRPr>
            </a:defPPr>
          </a:lstStyle>
          <a:p>
            <a:pPr>
              <a:defRPr sz="2100" b="1">
                <a:solidFill>
                  <a:srgbClr val="0B6E99"/>
                </a:solidFill>
              </a:defRPr>
            </a:pPr>
            <a:r>
              <a:rPr sz="2100" b="1">
                <a:solidFill>
                  <a:srgbClr val="0B6E99"/>
                </a:solidFill>
              </a:rPr>
              <a:t>→</a:t>
            </a:r>
            <a:endParaRPr sz="2100" b="1">
              <a:solidFill>
                <a:srgbClr val="0B6E99"/>
              </a:solidFill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7334250" y="2381250"/>
            <a:ext cx="1809750" cy="895350"/>
          </a:xfrm>
          <a:prstGeom prst="roundRect">
            <a:avLst>
              <a:gd name="adj" fmla="val 8511"/>
            </a:avLst>
          </a:prstGeom>
          <a:solidFill>
            <a:srgbClr val="D9EDF6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275" b="1">
                <a:solidFill>
                  <a:srgbClr val="0D1B26"/>
                </a:solidFill>
              </a:defRPr>
            </a:defPPr>
          </a:lstStyle>
          <a:p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Bedrock routing</a:t>
            </a:r>
            <a:endParaRPr sz="1275" b="1">
              <a:solidFill>
                <a:srgbClr val="0D1B26"/>
              </a:solidFill>
            </a:endParaRPr>
          </a:p>
          <a:p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llm / embedding</a:t>
            </a:r>
            <a:endParaRPr sz="1275" b="1">
              <a:solidFill>
                <a:srgbClr val="0D1B26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9239250" y="26479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0B6E99"/>
                </a:solidFill>
              </a:defRPr>
            </a:defPPr>
          </a:lstStyle>
          <a:p>
            <a:pPr>
              <a:defRPr sz="2100" b="1">
                <a:solidFill>
                  <a:srgbClr val="0B6E99"/>
                </a:solidFill>
              </a:defRPr>
            </a:pPr>
            <a:r>
              <a:rPr sz="2100" b="1">
                <a:solidFill>
                  <a:srgbClr val="0B6E99"/>
                </a:solidFill>
              </a:rPr>
              <a:t>→</a:t>
            </a:r>
            <a:endParaRPr sz="2100" b="1">
              <a:solidFill>
                <a:srgbClr val="0B6E99"/>
              </a:solidFill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9620250" y="2381250"/>
            <a:ext cx="16192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350" b="1">
                <a:solidFill>
                  <a:srgbClr val="0D1B26"/>
                </a:solidFill>
              </a:defRPr>
            </a:defPPr>
          </a:lstStyle>
          <a:p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Response</a:t>
            </a:r>
            <a:endParaRPr sz="1350" b="1">
              <a:solidFill>
                <a:srgbClr val="0D1B26"/>
              </a:solidFill>
            </a:endParaRPr>
          </a:p>
          <a:p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stream</a:t>
            </a:r>
            <a:endParaRPr sz="1350" b="1">
              <a:solidFill>
                <a:srgbClr val="0D1B26"/>
              </a:solidFill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2190750" y="4095750"/>
            <a:ext cx="20955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200" b="1">
                <a:solidFill>
                  <a:srgbClr val="0D1B26"/>
                </a:solidFill>
              </a:defRPr>
            </a:defPPr>
          </a:lstStyle>
          <a:p>
            <a:pPr>
              <a:defRPr sz="1200" b="1">
                <a:solidFill>
                  <a:srgbClr val="0D1B26"/>
                </a:solidFill>
              </a:defRPr>
            </a:pPr>
            <a:r>
              <a:rPr sz="1200" b="1">
                <a:solidFill>
                  <a:srgbClr val="0D1B26"/>
                </a:solidFill>
              </a:rPr>
              <a:t>Aurora PostgreSQL</a:t>
            </a:r>
            <a:endParaRPr sz="1200" b="1">
              <a:solidFill>
                <a:srgbClr val="0D1B26"/>
              </a:solidFill>
            </a:endParaRPr>
          </a:p>
          <a:p>
            <a:pPr>
              <a:defRPr sz="1200" b="1">
                <a:solidFill>
                  <a:srgbClr val="0D1B26"/>
                </a:solidFill>
              </a:defRPr>
            </a:pPr>
            <a:r>
              <a:rPr sz="1200" b="1">
                <a:solidFill>
                  <a:srgbClr val="0D1B26"/>
                </a:solidFill>
              </a:rPr>
              <a:t>database / vector_db</a:t>
            </a:r>
            <a:endParaRPr sz="1200" b="1">
              <a:solidFill>
                <a:srgbClr val="0D1B26"/>
              </a:solidFill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4619625" y="4095750"/>
            <a:ext cx="1905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200" b="1">
                <a:solidFill>
                  <a:srgbClr val="0D1B26"/>
                </a:solidFill>
              </a:defRPr>
            </a:defPPr>
          </a:lstStyle>
          <a:p>
            <a:pPr>
              <a:defRPr sz="1200" b="1">
                <a:solidFill>
                  <a:srgbClr val="0D1B26"/>
                </a:solidFill>
              </a:defRPr>
            </a:pPr>
            <a:r>
              <a:rPr sz="1200" b="1">
                <a:solidFill>
                  <a:srgbClr val="0D1B26"/>
                </a:solidFill>
              </a:rPr>
              <a:t>S3 workspace</a:t>
            </a:r>
            <a:endParaRPr sz="1200" b="1">
              <a:solidFill>
                <a:srgbClr val="0D1B26"/>
              </a:solidFill>
            </a:endParaRPr>
          </a:p>
          <a:p>
            <a:pPr>
              <a:defRPr sz="1200" b="1">
                <a:solidFill>
                  <a:srgbClr val="0D1B26"/>
                </a:solidFill>
              </a:defRPr>
            </a:pPr>
            <a:r>
              <a:rPr sz="1200" b="1">
                <a:solidFill>
                  <a:srgbClr val="0D1B26"/>
                </a:solidFill>
              </a:rPr>
              <a:t>object_storage</a:t>
            </a:r>
            <a:endParaRPr sz="1200" b="1">
              <a:solidFill>
                <a:srgbClr val="0D1B26"/>
              </a:solidFill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6858000" y="4095750"/>
            <a:ext cx="1714500" cy="857250"/>
          </a:xfrm>
          <a:prstGeom prst="roundRect">
            <a:avLst>
              <a:gd name="adj" fmla="val 8889"/>
            </a:avLst>
          </a:prstGeom>
          <a:solidFill>
            <a:srgbClr val="FFF5E8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275" b="1">
                <a:solidFill>
                  <a:srgbClr val="0D1B26"/>
                </a:solidFill>
              </a:defRPr>
            </a:defPPr>
          </a:lstStyle>
          <a:p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Fargate WASI</a:t>
            </a:r>
            <a:endParaRPr sz="1275" b="1">
              <a:solidFill>
                <a:srgbClr val="0D1B26"/>
              </a:solidFill>
            </a:endParaRPr>
          </a:p>
          <a:p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sandbox</a:t>
            </a:r>
            <a:endParaRPr sz="1275" b="1">
              <a:solidFill>
                <a:srgbClr val="0D1B26"/>
              </a:solidFill>
            </a:endParaRP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8905875" y="4095750"/>
            <a:ext cx="2333625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200" b="1">
                <a:solidFill>
                  <a:srgbClr val="0D1B26"/>
                </a:solidFill>
              </a:defRPr>
            </a:defPPr>
          </a:lstStyle>
          <a:p>
            <a:pPr>
              <a:defRPr sz="1200" b="1">
                <a:solidFill>
                  <a:srgbClr val="0D1B26"/>
                </a:solidFill>
              </a:defRPr>
            </a:pPr>
            <a:r>
              <a:rPr sz="1200" b="1">
                <a:solidFill>
                  <a:srgbClr val="0D1B26"/>
                </a:solidFill>
              </a:rPr>
              <a:t>OAuth + KMS</a:t>
            </a:r>
            <a:endParaRPr sz="1200" b="1">
              <a:solidFill>
                <a:srgbClr val="0D1B26"/>
              </a:solidFill>
            </a:endParaRPr>
          </a:p>
          <a:p>
            <a:pPr>
              <a:defRPr sz="1200" b="1">
                <a:solidFill>
                  <a:srgbClr val="0D1B26"/>
                </a:solidFill>
              </a:defRPr>
            </a:pPr>
            <a:r>
              <a:rPr sz="1200" b="1">
                <a:solidFill>
                  <a:srgbClr val="0D1B26"/>
                </a:solidFill>
              </a:rPr>
              <a:t>secrets_kms / connectors</a:t>
            </a:r>
            <a:endParaRPr sz="1200" b="1">
              <a:solidFill>
                <a:srgbClr val="0D1B26"/>
              </a:solidFill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2857500" y="542925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1">
                <a:solidFill>
                  <a:srgbClr val="15803D"/>
                </a:solidFill>
              </a:defRPr>
            </a:defPPr>
          </a:lstStyle>
          <a:p>
            <a:pPr>
              <a:defRPr sz="1425" b="1">
                <a:solidFill>
                  <a:srgbClr val="15803D"/>
                </a:solidFill>
              </a:defRPr>
            </a:pPr>
            <a:r>
              <a:rPr sz="1425" b="1">
                <a:solidFill>
                  <a:srgbClr val="15803D"/>
                </a:solidFill>
              </a:rPr>
              <a:t>cache_queue · backup_dr · monitoring · governance · cicd</a:t>
            </a:r>
            <a:endParaRPr sz="1425" b="1">
              <a:solidFill>
                <a:srgbClr val="15803D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533400" y="6477000"/>
            <a:ext cx="1104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4F6270"/>
                </a:solidFill>
              </a:defRPr>
            </a:defPPr>
          </a:lstStyle>
          <a:p>
            <a:pPr>
              <a:defRPr sz="900" b="0">
                <a:solidFill>
                  <a:srgbClr val="4F6270"/>
                </a:solidFill>
              </a:defRPr>
            </a:pPr>
            <a:r>
              <a:rPr sz="900" b="0">
                <a:solidFill>
                  <a:srgbClr val="4F6270"/>
                </a:solidFill>
              </a:rPr>
              <a:t>Reference architecture · Singapore proposed; account testing currently limited to Sydney</a:t>
            </a:r>
            <a:endParaRPr sz="900" b="0">
              <a:solidFill>
                <a:srgbClr val="4F627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Rectangle 20"/>
          <p:cNvSpPr>
            <a:spLocks noGrp="1"/>
          </p:cNvSpPr>
          <p:nvPr/>
        </p:nvSpPr>
        <p:spPr>
          <a:xfrm>
            <a:off x="533400" y="2857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0B6E99"/>
                </a:solidFill>
              </a:defRPr>
            </a:defPPr>
          </a:lstStyle>
          <a:p>
            <a:pPr>
              <a:defRPr sz="975" b="1">
                <a:solidFill>
                  <a:srgbClr val="0B6E99"/>
                </a:solidFill>
              </a:defRPr>
            </a:pPr>
            <a:r>
              <a:rPr sz="975" b="1">
                <a:solidFill>
                  <a:srgbClr val="0B6E99"/>
                </a:solidFill>
              </a:rPr>
              <a:t>VBOT WORKPLACE · G03</a:t>
            </a:r>
            <a:endParaRPr sz="975" b="1">
              <a:solidFill>
                <a:srgbClr val="0B6E99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33400" y="6477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0D1B26"/>
                </a:solidFill>
              </a:defRPr>
            </a:defPPr>
          </a:lstStyle>
          <a:p>
            <a:pPr>
              <a:defRPr sz="2550" b="1">
                <a:solidFill>
                  <a:srgbClr val="0D1B26"/>
                </a:solidFill>
              </a:defRPr>
            </a:pPr>
            <a:r>
              <a:rPr sz="2550" b="1">
                <a:solidFill>
                  <a:srgbClr val="0D1B26"/>
                </a:solidFill>
              </a:rPr>
              <a:t>Luồng xử lý một request</a:t>
            </a:r>
            <a:endParaRPr sz="2550" b="1">
              <a:solidFill>
                <a:srgbClr val="0D1B26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33400" y="1181100"/>
            <a:ext cx="1104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4F6270"/>
                </a:solidFill>
              </a:defRPr>
            </a:defPPr>
          </a:lstStyle>
          <a:p>
            <a:pPr>
              <a:defRPr sz="1275" b="0">
                <a:solidFill>
                  <a:srgbClr val="4F6270"/>
                </a:solidFill>
              </a:defRPr>
            </a:pPr>
            <a:r>
              <a:rPr sz="1275" b="0">
                <a:solidFill>
                  <a:srgbClr val="4F6270"/>
                </a:solidFill>
              </a:rPr>
              <a:t>Một request có thể có nhiều LLM calls; tool call không tự sinh thêm LLM call</a:t>
            </a:r>
            <a:endParaRPr sz="1275" b="0">
              <a:solidFill>
                <a:srgbClr val="4F6270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0953750" y="28575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4F6270"/>
                </a:solidFill>
              </a:defRPr>
            </a:defPPr>
          </a:lstStyle>
          <a:p>
            <a:pPr>
              <a:defRPr sz="975" b="1">
                <a:solidFill>
                  <a:srgbClr val="4F6270"/>
                </a:solidFill>
              </a:defRPr>
            </a:pPr>
            <a:r>
              <a:rPr sz="975" b="1">
                <a:solidFill>
                  <a:srgbClr val="4F6270"/>
                </a:solidFill>
              </a:rPr>
              <a:t>03 / 12</a:t>
            </a:r>
            <a:endParaRPr sz="975" b="1">
              <a:solidFill>
                <a:srgbClr val="4F6270"/>
              </a:solidFill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533400" y="2428875"/>
            <a:ext cx="1571625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275" b="1">
                <a:solidFill>
                  <a:srgbClr val="0D1B26"/>
                </a:solidFill>
              </a:defRPr>
            </a:defPPr>
          </a:lstStyle>
          <a:p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1  Authn</a:t>
            </a:r>
            <a:endParaRPr sz="1275" b="1">
              <a:solidFill>
                <a:srgbClr val="0D1B26"/>
              </a:solidFill>
            </a:endParaRPr>
          </a:p>
          <a:p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JWT + MFA</a:t>
            </a:r>
            <a:endParaRPr sz="1275" b="1">
              <a:solidFill>
                <a:srgbClr val="0D1B26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2133600" y="2705100"/>
            <a:ext cx="238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B6E99"/>
                </a:solidFill>
              </a:defRPr>
            </a:defPPr>
          </a:lstStyle>
          <a:p>
            <a:pPr>
              <a:defRPr sz="1875" b="1">
                <a:solidFill>
                  <a:srgbClr val="0B6E99"/>
                </a:solidFill>
              </a:defRPr>
            </a:pPr>
            <a:r>
              <a:rPr sz="1875" b="1">
                <a:solidFill>
                  <a:srgbClr val="0B6E99"/>
                </a:solidFill>
              </a:rPr>
              <a:t>→</a:t>
            </a:r>
            <a:endParaRPr sz="1875" b="1">
              <a:solidFill>
                <a:srgbClr val="0B6E99"/>
              </a:solidFill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2409825" y="2428875"/>
            <a:ext cx="1571625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275" b="1">
                <a:solidFill>
                  <a:srgbClr val="0D1B26"/>
                </a:solidFill>
              </a:defRPr>
            </a:defPPr>
          </a:lstStyle>
          <a:p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2  Authz</a:t>
            </a:r>
            <a:endParaRPr sz="1275" b="1">
              <a:solidFill>
                <a:srgbClr val="0D1B26"/>
              </a:solidFill>
            </a:endParaRPr>
          </a:p>
          <a:p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RLS + ACL</a:t>
            </a:r>
            <a:endParaRPr sz="1275" b="1">
              <a:solidFill>
                <a:srgbClr val="0D1B26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4010025" y="2705100"/>
            <a:ext cx="238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B6E99"/>
                </a:solidFill>
              </a:defRPr>
            </a:defPPr>
          </a:lstStyle>
          <a:p>
            <a:pPr>
              <a:defRPr sz="1875" b="1">
                <a:solidFill>
                  <a:srgbClr val="0B6E99"/>
                </a:solidFill>
              </a:defRPr>
            </a:pPr>
            <a:r>
              <a:rPr sz="1875" b="1">
                <a:solidFill>
                  <a:srgbClr val="0B6E99"/>
                </a:solidFill>
              </a:rPr>
              <a:t>→</a:t>
            </a:r>
            <a:endParaRPr sz="1875" b="1">
              <a:solidFill>
                <a:srgbClr val="0B6E99"/>
              </a:solidFill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4286250" y="2428875"/>
            <a:ext cx="1571625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275" b="1">
                <a:solidFill>
                  <a:srgbClr val="0D1B26"/>
                </a:solidFill>
              </a:defRPr>
            </a:defPPr>
          </a:lstStyle>
          <a:p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3  RAG</a:t>
            </a:r>
            <a:endParaRPr sz="1275" b="1">
              <a:solidFill>
                <a:srgbClr val="0D1B26"/>
              </a:solidFill>
            </a:endParaRPr>
          </a:p>
          <a:p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pgvector</a:t>
            </a:r>
            <a:endParaRPr sz="1275" b="1">
              <a:solidFill>
                <a:srgbClr val="0D1B26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5886450" y="2705100"/>
            <a:ext cx="238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B6E99"/>
                </a:solidFill>
              </a:defRPr>
            </a:defPPr>
          </a:lstStyle>
          <a:p>
            <a:pPr>
              <a:defRPr sz="1875" b="1">
                <a:solidFill>
                  <a:srgbClr val="0B6E99"/>
                </a:solidFill>
              </a:defRPr>
            </a:pPr>
            <a:r>
              <a:rPr sz="1875" b="1">
                <a:solidFill>
                  <a:srgbClr val="0B6E99"/>
                </a:solidFill>
              </a:rPr>
              <a:t>→</a:t>
            </a:r>
            <a:endParaRPr sz="1875" b="1">
              <a:solidFill>
                <a:srgbClr val="0B6E99"/>
              </a:solidFill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6162675" y="2428875"/>
            <a:ext cx="1571625" cy="914400"/>
          </a:xfrm>
          <a:prstGeom prst="roundRect">
            <a:avLst>
              <a:gd name="adj" fmla="val 8333"/>
            </a:avLst>
          </a:prstGeom>
          <a:solidFill>
            <a:srgbClr val="D9EDF6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275" b="1">
                <a:solidFill>
                  <a:srgbClr val="0D1B26"/>
                </a:solidFill>
              </a:defRPr>
            </a:defPPr>
          </a:lstStyle>
          <a:p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4  Model</a:t>
            </a:r>
            <a:endParaRPr sz="1275" b="1">
              <a:solidFill>
                <a:srgbClr val="0D1B26"/>
              </a:solidFill>
            </a:endParaRPr>
          </a:p>
          <a:p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route + stream</a:t>
            </a:r>
            <a:endParaRPr sz="1275" b="1">
              <a:solidFill>
                <a:srgbClr val="0D1B26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7762875" y="2705100"/>
            <a:ext cx="238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B6E99"/>
                </a:solidFill>
              </a:defRPr>
            </a:defPPr>
          </a:lstStyle>
          <a:p>
            <a:pPr>
              <a:defRPr sz="1875" b="1">
                <a:solidFill>
                  <a:srgbClr val="0B6E99"/>
                </a:solidFill>
              </a:defRPr>
            </a:pPr>
            <a:r>
              <a:rPr sz="1875" b="1">
                <a:solidFill>
                  <a:srgbClr val="0B6E99"/>
                </a:solidFill>
              </a:rPr>
              <a:t>→</a:t>
            </a:r>
            <a:endParaRPr sz="1875" b="1">
              <a:solidFill>
                <a:srgbClr val="0B6E99"/>
              </a:solidFill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8039100" y="2428875"/>
            <a:ext cx="1571625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275" b="1">
                <a:solidFill>
                  <a:srgbClr val="0D1B26"/>
                </a:solidFill>
              </a:defRPr>
            </a:defPPr>
          </a:lstStyle>
          <a:p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5  Tool</a:t>
            </a:r>
            <a:endParaRPr sz="1275" b="1">
              <a:solidFill>
                <a:srgbClr val="0D1B26"/>
              </a:solidFill>
            </a:endParaRPr>
          </a:p>
          <a:p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approval</a:t>
            </a:r>
            <a:endParaRPr sz="1275" b="1">
              <a:solidFill>
                <a:srgbClr val="0D1B26"/>
              </a:solidFill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9639300" y="2705100"/>
            <a:ext cx="238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B6E99"/>
                </a:solidFill>
              </a:defRPr>
            </a:defPPr>
          </a:lstStyle>
          <a:p>
            <a:pPr>
              <a:defRPr sz="1875" b="1">
                <a:solidFill>
                  <a:srgbClr val="0B6E99"/>
                </a:solidFill>
              </a:defRPr>
            </a:pPr>
            <a:r>
              <a:rPr sz="1875" b="1">
                <a:solidFill>
                  <a:srgbClr val="0B6E99"/>
                </a:solidFill>
              </a:rPr>
              <a:t>→</a:t>
            </a:r>
            <a:endParaRPr sz="1875" b="1">
              <a:solidFill>
                <a:srgbClr val="0B6E99"/>
              </a:solidFill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9915525" y="2428875"/>
            <a:ext cx="1571625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275" b="1">
                <a:solidFill>
                  <a:srgbClr val="0D1B26"/>
                </a:solidFill>
              </a:defRPr>
            </a:defPPr>
          </a:lstStyle>
          <a:p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6  Audit</a:t>
            </a:r>
            <a:endParaRPr sz="1275" b="1">
              <a:solidFill>
                <a:srgbClr val="0D1B26"/>
              </a:solidFill>
            </a:endParaRPr>
          </a:p>
          <a:p>
            <a:pPr>
              <a:defRPr sz="1275" b="1">
                <a:solidFill>
                  <a:srgbClr val="0D1B26"/>
                </a:solidFill>
              </a:defRPr>
            </a:pPr>
            <a:r>
              <a:rPr sz="1275" b="1">
                <a:solidFill>
                  <a:srgbClr val="0D1B26"/>
                </a:solidFill>
              </a:rPr>
              <a:t>response</a:t>
            </a:r>
            <a:endParaRPr sz="1275" b="1">
              <a:solidFill>
                <a:srgbClr val="0D1B26"/>
              </a:solidFill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533400" y="1952625"/>
            <a:ext cx="5095875" cy="400050"/>
          </a:xfrm>
          <a:prstGeom prst="roundRect">
            <a:avLst>
              <a:gd name="adj" fmla="val 19048"/>
            </a:avLst>
          </a:prstGeom>
          <a:solidFill>
            <a:srgbClr val="D9EDF6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425" b="1">
                <a:solidFill>
                  <a:srgbClr val="0B6E99"/>
                </a:solidFill>
              </a:defRPr>
            </a:defPPr>
          </a:lstStyle>
          <a:p>
            <a:pPr>
              <a:defRPr sz="1425" b="1">
                <a:solidFill>
                  <a:srgbClr val="0B6E99"/>
                </a:solidFill>
              </a:defRPr>
            </a:pPr>
            <a:r>
              <a:rPr sz="1425" b="1">
                <a:solidFill>
                  <a:srgbClr val="0B6E99"/>
                </a:solidFill>
              </a:rPr>
              <a:t>Data boundaries</a:t>
            </a:r>
            <a:endParaRPr sz="1425" b="1">
              <a:solidFill>
                <a:srgbClr val="0B6E99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685800" y="3778250"/>
            <a:ext cx="4762500" cy="188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D1B26"/>
                </a:solidFill>
              </a:defRPr>
            </a:defPPr>
          </a:lstStyle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Connector content is untrusted.</a:t>
            </a:r>
            <a:endParaRPr sz="1425" b="0">
              <a:solidFill>
                <a:srgbClr val="0D1B26"/>
              </a:solidFill>
            </a:endParaRPr>
          </a:p>
          <a:p>
            <a:endParaRPr sz="1425"/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ACL is filtered before top-K retrieval and checked again before download.</a:t>
            </a:r>
            <a:endParaRPr sz="1425" b="0">
              <a:solidFill>
                <a:srgbClr val="0D1B26"/>
              </a:solidFill>
            </a:endParaRPr>
          </a:p>
          <a:p>
            <a:endParaRPr sz="1425"/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OAuth token remains ciphertext; only broker can decrypt.</a:t>
            </a:r>
            <a:endParaRPr sz="1425" b="0">
              <a:solidFill>
                <a:srgbClr val="0D1B26"/>
              </a:solidFill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6096000" y="1952625"/>
            <a:ext cx="5095875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425" b="1">
                <a:solidFill>
                  <a:srgbClr val="0B6E99"/>
                </a:solidFill>
              </a:defRPr>
            </a:defPPr>
          </a:lstStyle>
          <a:p>
            <a:pPr>
              <a:defRPr sz="1425" b="1">
                <a:solidFill>
                  <a:srgbClr val="0B6E99"/>
                </a:solidFill>
              </a:defRPr>
            </a:pPr>
            <a:r>
              <a:rPr sz="1425" b="1">
                <a:solidFill>
                  <a:srgbClr val="0B6E99"/>
                </a:solidFill>
              </a:rPr>
              <a:t>Side effects</a:t>
            </a:r>
            <a:endParaRPr sz="1425" b="1">
              <a:solidFill>
                <a:srgbClr val="0B6E99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248400" y="3746500"/>
            <a:ext cx="4762500" cy="1920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D1B26"/>
                </a:solidFill>
              </a:defRPr>
            </a:defPPr>
          </a:lstStyle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send_email / create_ticket / delete_file require approval nonce.</a:t>
            </a:r>
            <a:endParaRPr sz="1425" b="0">
              <a:solidFill>
                <a:srgbClr val="0D1B26"/>
              </a:solidFill>
            </a:endParaRPr>
          </a:p>
          <a:p>
            <a:endParaRPr sz="1425"/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Sandbox receives only the authorized job input.</a:t>
            </a:r>
            <a:endParaRPr sz="1425" b="0">
              <a:solidFill>
                <a:srgbClr val="0D1B26"/>
              </a:solidFill>
            </a:endParaRPr>
          </a:p>
          <a:p>
            <a:endParaRPr sz="1425"/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Audit records decision and actor without raw secrets.</a:t>
            </a:r>
            <a:endParaRPr sz="1425" b="0">
              <a:solidFill>
                <a:srgbClr val="0D1B26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533400" y="6477000"/>
            <a:ext cx="1104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4F6270"/>
                </a:solidFill>
              </a:defRPr>
            </a:defPPr>
          </a:lstStyle>
          <a:p>
            <a:pPr>
              <a:defRPr sz="900" b="0">
                <a:solidFill>
                  <a:srgbClr val="4F6270"/>
                </a:solidFill>
              </a:defRPr>
            </a:pPr>
            <a:r>
              <a:rPr sz="900" b="0">
                <a:solidFill>
                  <a:srgbClr val="4F6270"/>
                </a:solidFill>
              </a:rPr>
              <a:t>AWS ap-southeast-1 · 2 AZ · USD/tháng chưa VAT</a:t>
            </a:r>
            <a:endParaRPr sz="900" b="0">
              <a:solidFill>
                <a:srgbClr val="4F627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Rectangle 14"/>
          <p:cNvSpPr>
            <a:spLocks noGrp="1"/>
          </p:cNvSpPr>
          <p:nvPr/>
        </p:nvSpPr>
        <p:spPr>
          <a:xfrm>
            <a:off x="533400" y="2857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0B6E99"/>
                </a:solidFill>
              </a:defRPr>
            </a:defPPr>
          </a:lstStyle>
          <a:p>
            <a:pPr>
              <a:defRPr sz="975" b="1">
                <a:solidFill>
                  <a:srgbClr val="0B6E99"/>
                </a:solidFill>
              </a:defRPr>
            </a:pPr>
            <a:r>
              <a:rPr sz="975" b="1">
                <a:solidFill>
                  <a:srgbClr val="0B6E99"/>
                </a:solidFill>
              </a:rPr>
              <a:t>VBOT WORKPLACE · G03</a:t>
            </a:r>
            <a:endParaRPr sz="975" b="1">
              <a:solidFill>
                <a:srgbClr val="0B6E99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33400" y="6477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0D1B26"/>
                </a:solidFill>
              </a:defRPr>
            </a:defPPr>
          </a:lstStyle>
          <a:p>
            <a:pPr>
              <a:defRPr sz="2550" b="1">
                <a:solidFill>
                  <a:srgbClr val="0D1B26"/>
                </a:solidFill>
              </a:defRPr>
            </a:pPr>
            <a:r>
              <a:rPr sz="2550" b="1">
                <a:solidFill>
                  <a:srgbClr val="0D1B26"/>
                </a:solidFill>
              </a:rPr>
              <a:t>Model routing và LLM serving</a:t>
            </a:r>
            <a:endParaRPr sz="2550" b="1">
              <a:solidFill>
                <a:srgbClr val="0D1B26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33400" y="1181100"/>
            <a:ext cx="1104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4F6270"/>
                </a:solidFill>
              </a:defRPr>
            </a:defPPr>
          </a:lstStyle>
          <a:p>
            <a:pPr>
              <a:defRPr sz="1275" b="0">
                <a:solidFill>
                  <a:srgbClr val="4F6270"/>
                </a:solidFill>
              </a:defRPr>
            </a:pPr>
            <a:r>
              <a:rPr sz="1275" b="0">
                <a:solidFill>
                  <a:srgbClr val="4F6270"/>
                </a:solidFill>
              </a:rPr>
              <a:t>Baseline theo bảng giá Singapore do nhóm ghi nhận; chưa thay benchmark bằng giả định</a:t>
            </a:r>
            <a:endParaRPr sz="1275" b="0">
              <a:solidFill>
                <a:srgbClr val="4F6270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0953750" y="28575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4F6270"/>
                </a:solidFill>
              </a:defRPr>
            </a:defPPr>
          </a:lstStyle>
          <a:p>
            <a:pPr>
              <a:defRPr sz="975" b="1">
                <a:solidFill>
                  <a:srgbClr val="4F6270"/>
                </a:solidFill>
              </a:defRPr>
            </a:pPr>
            <a:r>
              <a:rPr sz="975" b="1">
                <a:solidFill>
                  <a:srgbClr val="4F6270"/>
                </a:solidFill>
              </a:rPr>
              <a:t>04 / 12</a:t>
            </a:r>
            <a:endParaRPr sz="975" b="1">
              <a:solidFill>
                <a:srgbClr val="4F6270"/>
              </a:solidFill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533400" y="2095500"/>
            <a:ext cx="2381250" cy="1190625"/>
          </a:xfrm>
          <a:prstGeom prst="roundRect">
            <a:avLst>
              <a:gd name="adj" fmla="val 6400"/>
            </a:avLst>
          </a:prstGeom>
          <a:solidFill>
            <a:srgbClr val="D9EDF6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350" b="1">
                <a:solidFill>
                  <a:srgbClr val="0D1B26"/>
                </a:solidFill>
              </a:defRPr>
            </a:defPPr>
          </a:lstStyle>
          <a:p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C1 · Nova Micro</a:t>
            </a:r>
            <a:endParaRPr sz="1350" b="1">
              <a:solidFill>
                <a:srgbClr val="0D1B26"/>
              </a:solidFill>
            </a:endParaRPr>
          </a:p>
          <a:p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1 call/request</a:t>
            </a:r>
            <a:endParaRPr sz="1350" b="1">
              <a:solidFill>
                <a:srgbClr val="0D1B26"/>
              </a:solidFill>
            </a:endParaRPr>
          </a:p>
          <a:p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2.376B in · 316.8M out</a:t>
            </a:r>
            <a:endParaRPr sz="1350" b="1">
              <a:solidFill>
                <a:srgbClr val="0D1B26"/>
              </a:solidFill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3143250" y="2095500"/>
            <a:ext cx="2381250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350" b="1">
                <a:solidFill>
                  <a:srgbClr val="0D1B26"/>
                </a:solidFill>
              </a:defRPr>
            </a:defPPr>
          </a:lstStyle>
          <a:p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C2 · Nova Lite</a:t>
            </a:r>
            <a:endParaRPr sz="1350" b="1">
              <a:solidFill>
                <a:srgbClr val="0D1B26"/>
              </a:solidFill>
            </a:endParaRPr>
          </a:p>
          <a:p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1 call/request</a:t>
            </a:r>
            <a:endParaRPr sz="1350" b="1">
              <a:solidFill>
                <a:srgbClr val="0D1B26"/>
              </a:solidFill>
            </a:endParaRPr>
          </a:p>
          <a:p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1.760B in · 264M out</a:t>
            </a:r>
            <a:endParaRPr sz="1350" b="1">
              <a:solidFill>
                <a:srgbClr val="0D1B26"/>
              </a:solidFill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5753100" y="2095500"/>
            <a:ext cx="2381250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350" b="1">
                <a:solidFill>
                  <a:srgbClr val="0D1B26"/>
                </a:solidFill>
              </a:defRPr>
            </a:defPPr>
          </a:lstStyle>
          <a:p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C3 · Nova Lite</a:t>
            </a:r>
            <a:endParaRPr sz="1350" b="1">
              <a:solidFill>
                <a:srgbClr val="0D1B26"/>
              </a:solidFill>
            </a:endParaRPr>
          </a:p>
          <a:p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2 calls/request</a:t>
            </a:r>
            <a:endParaRPr sz="1350" b="1">
              <a:solidFill>
                <a:srgbClr val="0D1B26"/>
              </a:solidFill>
            </a:endParaRPr>
          </a:p>
          <a:p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2.376B in · 369.6M out</a:t>
            </a:r>
            <a:endParaRPr sz="1350" b="1">
              <a:solidFill>
                <a:srgbClr val="0D1B26"/>
              </a:solidFill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8362950" y="2095500"/>
            <a:ext cx="2381250" cy="1190625"/>
          </a:xfrm>
          <a:prstGeom prst="roundRect">
            <a:avLst>
              <a:gd name="adj" fmla="val 6400"/>
            </a:avLst>
          </a:prstGeom>
          <a:solidFill>
            <a:srgbClr val="D9EDF6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350" b="1">
                <a:solidFill>
                  <a:srgbClr val="0D1B26"/>
                </a:solidFill>
              </a:defRPr>
            </a:defPPr>
          </a:lstStyle>
          <a:p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C4 · Nova Pro</a:t>
            </a:r>
            <a:endParaRPr sz="1350" b="1">
              <a:solidFill>
                <a:srgbClr val="0D1B26"/>
              </a:solidFill>
            </a:endParaRPr>
          </a:p>
          <a:p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3 calls/request</a:t>
            </a:r>
            <a:endParaRPr sz="1350" b="1">
              <a:solidFill>
                <a:srgbClr val="0D1B26"/>
              </a:solidFill>
            </a:endParaRPr>
          </a:p>
          <a:p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2.640B in · 422.4M out</a:t>
            </a:r>
            <a:endParaRPr sz="1350" b="1">
              <a:solidFill>
                <a:srgbClr val="0D1B26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479425" y="5553075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0D1B26"/>
                </a:solidFill>
              </a:defRPr>
            </a:defPPr>
          </a:lstStyle>
          <a:p>
            <a:pPr>
              <a:defRPr sz="1500" b="1">
                <a:solidFill>
                  <a:srgbClr val="0D1B26"/>
                </a:solidFill>
              </a:defRPr>
            </a:pPr>
            <a:r>
              <a:rPr sz="1500" b="1">
                <a:solidFill>
                  <a:srgbClr val="0D1B26"/>
                </a:solidFill>
              </a:rPr>
              <a:t>C5 · Nova Lite: 1 text call/request · 484M input · 79.2M output · image call tách riêng</a:t>
            </a:r>
            <a:endParaRPr sz="1500" b="1">
              <a:solidFill>
                <a:srgbClr val="0D1B26"/>
              </a:solidFill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533400" y="1571625"/>
            <a:ext cx="5095875" cy="400050"/>
          </a:xfrm>
          <a:prstGeom prst="roundRect">
            <a:avLst>
              <a:gd name="adj" fmla="val 19048"/>
            </a:avLst>
          </a:prstGeom>
          <a:solidFill>
            <a:srgbClr val="D9EDF6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425" b="1">
                <a:solidFill>
                  <a:srgbClr val="0B6E99"/>
                </a:solidFill>
              </a:defRPr>
            </a:defPPr>
          </a:lstStyle>
          <a:p>
            <a:pPr>
              <a:defRPr sz="1425" b="1">
                <a:solidFill>
                  <a:srgbClr val="0B6E99"/>
                </a:solidFill>
              </a:defRPr>
            </a:pPr>
            <a:r>
              <a:rPr sz="1425" b="1">
                <a:solidFill>
                  <a:srgbClr val="0B6E99"/>
                </a:solidFill>
              </a:rPr>
              <a:t>Monthly token estimate</a:t>
            </a:r>
            <a:endParaRPr sz="1425" b="1">
              <a:solidFill>
                <a:srgbClr val="0B6E99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623570" y="3644900"/>
            <a:ext cx="47625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D1B26"/>
                </a:solidFill>
              </a:defRPr>
            </a:defPPr>
          </a:lstStyle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Nova Micro: $171.23</a:t>
            </a:r>
            <a:endParaRPr sz="1425" b="0">
              <a:solidFill>
                <a:srgbClr val="0D1B26"/>
              </a:solidFill>
            </a:endParaRPr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Nova Lite C2/C3/C5: $605.17</a:t>
            </a:r>
            <a:endParaRPr sz="1425" b="0">
              <a:solidFill>
                <a:srgbClr val="0D1B26"/>
              </a:solidFill>
            </a:endParaRPr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Nova Pro: $4,675.97</a:t>
            </a:r>
            <a:endParaRPr sz="1425" b="0">
              <a:solidFill>
                <a:srgbClr val="0D1B26"/>
              </a:solidFill>
            </a:endParaRPr>
          </a:p>
          <a:p>
            <a:endParaRPr sz="1425"/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LLM subtotal: $5,452.37/month</a:t>
            </a:r>
            <a:endParaRPr sz="1425" b="0">
              <a:solidFill>
                <a:srgbClr val="0D1B26"/>
              </a:solidFill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5807710" y="1628775"/>
            <a:ext cx="5095875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425" b="1">
                <a:solidFill>
                  <a:srgbClr val="0B6E99"/>
                </a:solidFill>
              </a:defRPr>
            </a:defPPr>
          </a:lstStyle>
          <a:p>
            <a:pPr>
              <a:defRPr sz="1425" b="1">
                <a:solidFill>
                  <a:srgbClr val="0B6E99"/>
                </a:solidFill>
              </a:defRPr>
            </a:pPr>
            <a:r>
              <a:rPr sz="1425" b="1">
                <a:solidFill>
                  <a:srgbClr val="0B6E99"/>
                </a:solidFill>
              </a:rPr>
              <a:t>Known blocker</a:t>
            </a:r>
            <a:endParaRPr sz="1425" b="1">
              <a:solidFill>
                <a:srgbClr val="0B6E99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6191250" y="3714750"/>
            <a:ext cx="47625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D1B26"/>
                </a:solidFill>
              </a:defRPr>
            </a:defPPr>
          </a:lstStyle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Nova Canvas v1 reached EOL 2026-09-30.</a:t>
            </a:r>
            <a:endParaRPr sz="1425" b="0">
              <a:solidFill>
                <a:srgbClr val="0D1B26"/>
              </a:solidFill>
            </a:endParaRPr>
          </a:p>
          <a:p>
            <a:endParaRPr sz="1425"/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90.000 images remain a requirement, but no production image model is included until a supported replacement is verified.</a:t>
            </a:r>
            <a:endParaRPr sz="1425" b="0">
              <a:solidFill>
                <a:srgbClr val="0D1B26"/>
              </a:solidFill>
            </a:endParaRPr>
          </a:p>
          <a:p>
            <a:endParaRPr sz="1425"/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No quality score is claimed.</a:t>
            </a:r>
            <a:endParaRPr sz="1425" b="0">
              <a:solidFill>
                <a:srgbClr val="0D1B26"/>
              </a:solidFill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533400" y="6477000"/>
            <a:ext cx="1104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4F6270"/>
                </a:solidFill>
              </a:defRPr>
            </a:defPPr>
          </a:lstStyle>
          <a:p>
            <a:pPr>
              <a:defRPr sz="900" b="0">
                <a:solidFill>
                  <a:srgbClr val="4F6270"/>
                </a:solidFill>
              </a:defRPr>
            </a:pPr>
            <a:r>
              <a:rPr sz="900" b="0">
                <a:solidFill>
                  <a:srgbClr val="4F6270"/>
                </a:solidFill>
              </a:rPr>
              <a:t>AWS ap-southeast-1 · 2 AZ · USD/tháng chưa VAT</a:t>
            </a:r>
            <a:endParaRPr sz="900" b="0">
              <a:solidFill>
                <a:srgbClr val="4F627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Rectangle 9"/>
          <p:cNvSpPr>
            <a:spLocks noGrp="1"/>
          </p:cNvSpPr>
          <p:nvPr/>
        </p:nvSpPr>
        <p:spPr>
          <a:xfrm>
            <a:off x="533400" y="2857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0B6E99"/>
                </a:solidFill>
              </a:defRPr>
            </a:defPPr>
          </a:lstStyle>
          <a:p>
            <a:pPr>
              <a:defRPr sz="975" b="1">
                <a:solidFill>
                  <a:srgbClr val="0B6E99"/>
                </a:solidFill>
              </a:defRPr>
            </a:pPr>
            <a:r>
              <a:rPr sz="975" b="1">
                <a:solidFill>
                  <a:srgbClr val="0B6E99"/>
                </a:solidFill>
              </a:rPr>
              <a:t>VBOT WORKPLACE · G03</a:t>
            </a:r>
            <a:endParaRPr sz="975" b="1">
              <a:solidFill>
                <a:srgbClr val="0B6E99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33400" y="6477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0D1B26"/>
                </a:solidFill>
              </a:defRPr>
            </a:defPPr>
          </a:lstStyle>
          <a:p>
            <a:pPr>
              <a:defRPr sz="2550" b="1">
                <a:solidFill>
                  <a:srgbClr val="0D1B26"/>
                </a:solidFill>
              </a:defRPr>
            </a:pPr>
            <a:r>
              <a:rPr sz="2550" b="1">
                <a:solidFill>
                  <a:srgbClr val="0D1B26"/>
                </a:solidFill>
              </a:rPr>
              <a:t>Vì sao API thay vì GPU/hybrid</a:t>
            </a:r>
            <a:endParaRPr sz="2550" b="1">
              <a:solidFill>
                <a:srgbClr val="0D1B26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33400" y="1181100"/>
            <a:ext cx="1104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4F6270"/>
                </a:solidFill>
              </a:defRPr>
            </a:defPPr>
          </a:lstStyle>
          <a:p>
            <a:pPr>
              <a:defRPr sz="1275" b="0">
                <a:solidFill>
                  <a:srgbClr val="4F6270"/>
                </a:solidFill>
              </a:defRPr>
            </a:pPr>
            <a:r>
              <a:rPr sz="1275" b="0">
                <a:solidFill>
                  <a:srgbClr val="4F6270"/>
                </a:solidFill>
              </a:rPr>
              <a:t>Định hướng chi phí thấp nhất với tải bursty và chưa có throughput GPU đo được</a:t>
            </a:r>
            <a:endParaRPr sz="1275" b="0">
              <a:solidFill>
                <a:srgbClr val="4F6270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0953750" y="28575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4F6270"/>
                </a:solidFill>
              </a:defRPr>
            </a:defPPr>
          </a:lstStyle>
          <a:p>
            <a:pPr>
              <a:defRPr sz="975" b="1">
                <a:solidFill>
                  <a:srgbClr val="4F6270"/>
                </a:solidFill>
              </a:defRPr>
            </a:pPr>
            <a:r>
              <a:rPr sz="975" b="1">
                <a:solidFill>
                  <a:srgbClr val="4F6270"/>
                </a:solidFill>
              </a:rPr>
              <a:t>05 / 12</a:t>
            </a:r>
            <a:endParaRPr sz="975" b="1">
              <a:solidFill>
                <a:srgbClr val="4F6270"/>
              </a:solidFill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533400" y="1952625"/>
            <a:ext cx="5095875" cy="400050"/>
          </a:xfrm>
          <a:prstGeom prst="roundRect">
            <a:avLst>
              <a:gd name="adj" fmla="val 19048"/>
            </a:avLst>
          </a:prstGeom>
          <a:solidFill>
            <a:srgbClr val="D9EDF6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425" b="1">
                <a:solidFill>
                  <a:srgbClr val="0B6E99"/>
                </a:solidFill>
              </a:defRPr>
            </a:defPPr>
          </a:lstStyle>
          <a:p>
            <a:pPr>
              <a:defRPr sz="1425" b="1">
                <a:solidFill>
                  <a:srgbClr val="0B6E99"/>
                </a:solidFill>
              </a:defRPr>
            </a:pPr>
            <a:r>
              <a:rPr sz="1425" b="1">
                <a:solidFill>
                  <a:srgbClr val="0B6E99"/>
                </a:solidFill>
              </a:rPr>
              <a:t>Bedrock API · chọn baseline</a:t>
            </a:r>
            <a:endParaRPr sz="1425" b="1">
              <a:solidFill>
                <a:srgbClr val="0B6E99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2524125"/>
            <a:ext cx="47625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D1B26"/>
                </a:solidFill>
              </a:defRPr>
            </a:defPPr>
          </a:lstStyle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• Không giữ GPU 24/7</a:t>
            </a:r>
            <a:endParaRPr sz="1425" b="0">
              <a:solidFill>
                <a:srgbClr val="0D1B26"/>
              </a:solidFill>
            </a:endParaRPr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• Chi phí gắn model calls/token</a:t>
            </a:r>
            <a:endParaRPr sz="1425" b="0">
              <a:solidFill>
                <a:srgbClr val="0D1B26"/>
              </a:solidFill>
            </a:endParaRPr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• Scale theo request và peak</a:t>
            </a:r>
            <a:endParaRPr sz="1425" b="0">
              <a:solidFill>
                <a:srgbClr val="0D1B26"/>
              </a:solidFill>
            </a:endParaRPr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• Private endpoint + APAC routing</a:t>
            </a:r>
            <a:endParaRPr sz="1425" b="0">
              <a:solidFill>
                <a:srgbClr val="0D1B26"/>
              </a:solidFill>
            </a:endParaRPr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• Dễ đổi model sau eval gate</a:t>
            </a:r>
            <a:endParaRPr sz="1425" b="0">
              <a:solidFill>
                <a:srgbClr val="0D1B26"/>
              </a:solidFill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6096000" y="1952625"/>
            <a:ext cx="5095875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425" b="1">
                <a:solidFill>
                  <a:srgbClr val="0B6E99"/>
                </a:solidFill>
              </a:defRPr>
            </a:defPPr>
          </a:lstStyle>
          <a:p>
            <a:pPr>
              <a:defRPr sz="1425" b="1">
                <a:solidFill>
                  <a:srgbClr val="0B6E99"/>
                </a:solidFill>
              </a:defRPr>
            </a:pPr>
            <a:r>
              <a:rPr sz="1425" b="1">
                <a:solidFill>
                  <a:srgbClr val="0B6E99"/>
                </a:solidFill>
              </a:rPr>
              <a:t>GPU/hybrid · chưa chốt</a:t>
            </a:r>
            <a:endParaRPr sz="1425" b="1">
              <a:solidFill>
                <a:srgbClr val="0B6E99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248400" y="2524125"/>
            <a:ext cx="47625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D1B26"/>
                </a:solidFill>
              </a:defRPr>
            </a:defPPr>
          </a:lstStyle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• Cần giá GPU, throughput thực đo</a:t>
            </a:r>
            <a:endParaRPr sz="1425" b="0">
              <a:solidFill>
                <a:srgbClr val="0D1B26"/>
              </a:solidFill>
            </a:endParaRPr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• Phải cộng replica HA, model storage, network và 1–2 FTE</a:t>
            </a:r>
            <a:endParaRPr sz="1425" b="0">
              <a:solidFill>
                <a:srgbClr val="0D1B26"/>
              </a:solidFill>
            </a:endParaRPr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• Chưa có benchmark TTFT/quality</a:t>
            </a:r>
            <a:endParaRPr sz="1425" b="0">
              <a:solidFill>
                <a:srgbClr val="0D1B26"/>
              </a:solidFill>
            </a:endParaRPr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• Chỉ chọn khi total GPU &lt; API và đạt H6/H8</a:t>
            </a:r>
            <a:endParaRPr sz="1425" b="0">
              <a:solidFill>
                <a:srgbClr val="0D1B26"/>
              </a:solidFill>
            </a:endParaRPr>
          </a:p>
          <a:p>
            <a:endParaRPr sz="1425"/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Kết luận này là quyết định kiến trúc, chưa phải benchmark.</a:t>
            </a:r>
            <a:endParaRPr sz="1425" b="0">
              <a:solidFill>
                <a:srgbClr val="0D1B26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533400" y="6477000"/>
            <a:ext cx="1104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4F6270"/>
                </a:solidFill>
              </a:defRPr>
            </a:defPPr>
          </a:lstStyle>
          <a:p>
            <a:pPr>
              <a:defRPr sz="900" b="0">
                <a:solidFill>
                  <a:srgbClr val="4F6270"/>
                </a:solidFill>
              </a:defRPr>
            </a:pPr>
            <a:r>
              <a:rPr sz="900" b="0">
                <a:solidFill>
                  <a:srgbClr val="4F6270"/>
                </a:solidFill>
              </a:rPr>
              <a:t>Model availability, data residency và pricing cần xác minh trong pilot Singapore</a:t>
            </a:r>
            <a:endParaRPr sz="900" b="0">
              <a:solidFill>
                <a:srgbClr val="4F627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Rectangle 9"/>
          <p:cNvSpPr>
            <a:spLocks noGrp="1"/>
          </p:cNvSpPr>
          <p:nvPr/>
        </p:nvSpPr>
        <p:spPr>
          <a:xfrm>
            <a:off x="533400" y="2857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0B6E99"/>
                </a:solidFill>
              </a:defRPr>
            </a:defPPr>
          </a:lstStyle>
          <a:p>
            <a:pPr>
              <a:defRPr sz="975" b="1">
                <a:solidFill>
                  <a:srgbClr val="0B6E99"/>
                </a:solidFill>
              </a:defRPr>
            </a:pPr>
            <a:r>
              <a:rPr sz="975" b="1">
                <a:solidFill>
                  <a:srgbClr val="0B6E99"/>
                </a:solidFill>
              </a:rPr>
              <a:t>VBOT WORKPLACE · G03</a:t>
            </a:r>
            <a:endParaRPr sz="975" b="1">
              <a:solidFill>
                <a:srgbClr val="0B6E99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33400" y="6477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0D1B26"/>
                </a:solidFill>
              </a:defRPr>
            </a:defPPr>
          </a:lstStyle>
          <a:p>
            <a:pPr>
              <a:defRPr sz="2550" b="1">
                <a:solidFill>
                  <a:srgbClr val="0D1B26"/>
                </a:solidFill>
              </a:defRPr>
            </a:pPr>
            <a:r>
              <a:rPr sz="2550" b="1">
                <a:solidFill>
                  <a:srgbClr val="0D1B26"/>
                </a:solidFill>
              </a:rPr>
              <a:t>Connectors và phân quyền</a:t>
            </a:r>
            <a:endParaRPr sz="2550" b="1">
              <a:solidFill>
                <a:srgbClr val="0D1B26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33400" y="1181100"/>
            <a:ext cx="1104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4F6270"/>
                </a:solidFill>
              </a:defRPr>
            </a:defPPr>
          </a:lstStyle>
          <a:p>
            <a:pPr>
              <a:defRPr sz="1275" b="0">
                <a:solidFill>
                  <a:srgbClr val="4F6270"/>
                </a:solidFill>
              </a:defRPr>
            </a:pPr>
            <a:r>
              <a:rPr sz="1275" b="0">
                <a:solidFill>
                  <a:srgbClr val="4F6270"/>
                </a:solidFill>
              </a:rPr>
              <a:t>Identity của user đi xuyên từ IdP đến DB, S3, vector và tool</a:t>
            </a:r>
            <a:endParaRPr sz="1275" b="0">
              <a:solidFill>
                <a:srgbClr val="4F6270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0953750" y="28575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4F6270"/>
                </a:solidFill>
              </a:defRPr>
            </a:defPPr>
          </a:lstStyle>
          <a:p>
            <a:pPr>
              <a:defRPr sz="975" b="1">
                <a:solidFill>
                  <a:srgbClr val="4F6270"/>
                </a:solidFill>
              </a:defRPr>
            </a:pPr>
            <a:r>
              <a:rPr sz="975" b="1">
                <a:solidFill>
                  <a:srgbClr val="4F6270"/>
                </a:solidFill>
              </a:rPr>
              <a:t>06 / 12</a:t>
            </a:r>
            <a:endParaRPr sz="975" b="1">
              <a:solidFill>
                <a:srgbClr val="4F6270"/>
              </a:solidFill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533400" y="1952625"/>
            <a:ext cx="5095875" cy="400050"/>
          </a:xfrm>
          <a:prstGeom prst="roundRect">
            <a:avLst>
              <a:gd name="adj" fmla="val 19048"/>
            </a:avLst>
          </a:prstGeom>
          <a:solidFill>
            <a:srgbClr val="D9EDF6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425" b="1">
                <a:solidFill>
                  <a:srgbClr val="0B6E99"/>
                </a:solidFill>
              </a:defRPr>
            </a:defPPr>
          </a:lstStyle>
          <a:p>
            <a:pPr>
              <a:defRPr sz="1425" b="1">
                <a:solidFill>
                  <a:srgbClr val="0B6E99"/>
                </a:solidFill>
              </a:defRPr>
            </a:pPr>
            <a:r>
              <a:rPr sz="1425" b="1">
                <a:solidFill>
                  <a:srgbClr val="0B6E99"/>
                </a:solidFill>
              </a:rPr>
              <a:t>Identity</a:t>
            </a:r>
            <a:endParaRPr sz="1425" b="1">
              <a:solidFill>
                <a:srgbClr val="0B6E99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2524125"/>
            <a:ext cx="47625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D1B26"/>
                </a:solidFill>
              </a:defRPr>
            </a:defPPr>
          </a:lstStyle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Corporate IdP → Cognito federation → signed JWT</a:t>
            </a:r>
            <a:endParaRPr sz="1425" b="0">
              <a:solidFill>
                <a:srgbClr val="0D1B26"/>
              </a:solidFill>
            </a:endParaRPr>
          </a:p>
          <a:p>
            <a:endParaRPr sz="1425"/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RBAC: employee / manager / admin</a:t>
            </a:r>
            <a:endParaRPr sz="1425" b="0">
              <a:solidFill>
                <a:srgbClr val="0D1B26"/>
              </a:solidFill>
            </a:endParaRPr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ABAC: tenant, department, classification</a:t>
            </a:r>
            <a:endParaRPr sz="1425" b="0">
              <a:solidFill>
                <a:srgbClr val="0D1B26"/>
              </a:solidFill>
            </a:endParaRPr>
          </a:p>
          <a:p>
            <a:endParaRPr sz="1425"/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OAuth delegated scope tối thiểu; refresh token ciphertext trong DB.</a:t>
            </a:r>
            <a:endParaRPr sz="1425" b="0">
              <a:solidFill>
                <a:srgbClr val="0D1B26"/>
              </a:solidFill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6096000" y="1952625"/>
            <a:ext cx="5095875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425" b="1">
                <a:solidFill>
                  <a:srgbClr val="0B6E99"/>
                </a:solidFill>
              </a:defRPr>
            </a:defPPr>
          </a:lstStyle>
          <a:p>
            <a:pPr>
              <a:defRPr sz="1425" b="1">
                <a:solidFill>
                  <a:srgbClr val="0B6E99"/>
                </a:solidFill>
              </a:defRPr>
            </a:pPr>
            <a:r>
              <a:rPr sz="1425" b="1">
                <a:solidFill>
                  <a:srgbClr val="0B6E99"/>
                </a:solidFill>
              </a:rPr>
              <a:t>Enforcement</a:t>
            </a:r>
            <a:endParaRPr sz="1425" b="1">
              <a:solidFill>
                <a:srgbClr val="0B6E99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248400" y="2524125"/>
            <a:ext cx="47625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D1B26"/>
                </a:solidFill>
              </a:defRPr>
            </a:defPPr>
          </a:lstStyle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PostgreSQL RLS không BYPASSRLS</a:t>
            </a:r>
            <a:endParaRPr sz="1425" b="0">
              <a:solidFill>
                <a:srgbClr val="0D1B26"/>
              </a:solidFill>
            </a:endParaRPr>
          </a:p>
          <a:p>
            <a:endParaRPr sz="1425"/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S3 prefix: users/{user_id}/...</a:t>
            </a:r>
            <a:endParaRPr sz="1425" b="0">
              <a:solidFill>
                <a:srgbClr val="0D1B26"/>
              </a:solidFill>
            </a:endParaRPr>
          </a:p>
          <a:p>
            <a:endParaRPr sz="1425"/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ACL trước vector top-K và trước presigned URL</a:t>
            </a:r>
            <a:endParaRPr sz="1425" b="0">
              <a:solidFill>
                <a:srgbClr val="0D1B26"/>
              </a:solidFill>
            </a:endParaRPr>
          </a:p>
          <a:p>
            <a:endParaRPr sz="1425"/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Side effect cần approval nonce + re-authorize.</a:t>
            </a:r>
            <a:endParaRPr sz="1425" b="0">
              <a:solidFill>
                <a:srgbClr val="0D1B26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533400" y="6477000"/>
            <a:ext cx="1104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4F6270"/>
                </a:solidFill>
              </a:defRPr>
            </a:defPPr>
          </a:lstStyle>
          <a:p>
            <a:pPr>
              <a:defRPr sz="900" b="0">
                <a:solidFill>
                  <a:srgbClr val="4F6270"/>
                </a:solidFill>
              </a:defRPr>
            </a:pPr>
            <a:r>
              <a:rPr sz="900" b="0">
                <a:solidFill>
                  <a:srgbClr val="4F6270"/>
                </a:solidFill>
              </a:rPr>
              <a:t>authn · authz · connectors · database · vector_db · object_storage · secrets_kms</a:t>
            </a:r>
            <a:endParaRPr sz="900" b="0">
              <a:solidFill>
                <a:srgbClr val="4F627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ectangle 11"/>
          <p:cNvSpPr>
            <a:spLocks noGrp="1"/>
          </p:cNvSpPr>
          <p:nvPr/>
        </p:nvSpPr>
        <p:spPr>
          <a:xfrm>
            <a:off x="533400" y="2857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0B6E99"/>
                </a:solidFill>
              </a:defRPr>
            </a:defPPr>
          </a:lstStyle>
          <a:p>
            <a:pPr>
              <a:defRPr sz="975" b="1">
                <a:solidFill>
                  <a:srgbClr val="0B6E99"/>
                </a:solidFill>
              </a:defRPr>
            </a:pPr>
            <a:r>
              <a:rPr sz="975" b="1">
                <a:solidFill>
                  <a:srgbClr val="0B6E99"/>
                </a:solidFill>
              </a:rPr>
              <a:t>VBOT WORKPLACE · G03</a:t>
            </a:r>
            <a:endParaRPr sz="975" b="1">
              <a:solidFill>
                <a:srgbClr val="0B6E99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33400" y="6477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0D1B26"/>
                </a:solidFill>
              </a:defRPr>
            </a:defPPr>
          </a:lstStyle>
          <a:p>
            <a:pPr>
              <a:defRPr sz="2550" b="1">
                <a:solidFill>
                  <a:srgbClr val="0D1B26"/>
                </a:solidFill>
              </a:defRPr>
            </a:pPr>
            <a:r>
              <a:rPr sz="2550" b="1">
                <a:solidFill>
                  <a:srgbClr val="0D1B26"/>
                </a:solidFill>
              </a:rPr>
              <a:t>Workspace riêng và sandbox</a:t>
            </a:r>
            <a:endParaRPr sz="2550" b="1">
              <a:solidFill>
                <a:srgbClr val="0D1B26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33400" y="1181100"/>
            <a:ext cx="1104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4F6270"/>
                </a:solidFill>
              </a:defRPr>
            </a:defPPr>
          </a:lstStyle>
          <a:p>
            <a:pPr>
              <a:defRPr sz="1275" b="0">
                <a:solidFill>
                  <a:srgbClr val="4F6270"/>
                </a:solidFill>
              </a:defRPr>
            </a:pPr>
            <a:r>
              <a:rPr sz="1275" b="0">
                <a:solidFill>
                  <a:srgbClr val="4F6270"/>
                </a:solidFill>
              </a:rPr>
              <a:t>Fargate + WASI guest: giới hạn capability thay vì tuyên bố zero-risk</a:t>
            </a:r>
            <a:endParaRPr sz="1275" b="0">
              <a:solidFill>
                <a:srgbClr val="4F6270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0953750" y="28575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4F6270"/>
                </a:solidFill>
              </a:defRPr>
            </a:defPPr>
          </a:lstStyle>
          <a:p>
            <a:pPr>
              <a:defRPr sz="975" b="1">
                <a:solidFill>
                  <a:srgbClr val="4F6270"/>
                </a:solidFill>
              </a:defRPr>
            </a:pPr>
            <a:r>
              <a:rPr sz="975" b="1">
                <a:solidFill>
                  <a:srgbClr val="4F6270"/>
                </a:solidFill>
              </a:rPr>
              <a:t>07 / 12</a:t>
            </a:r>
            <a:endParaRPr sz="975" b="1">
              <a:solidFill>
                <a:srgbClr val="4F6270"/>
              </a:solidFill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533400" y="2143125"/>
            <a:ext cx="2476500" cy="1095375"/>
          </a:xfrm>
          <a:prstGeom prst="roundRect">
            <a:avLst>
              <a:gd name="adj" fmla="val 6957"/>
            </a:avLst>
          </a:prstGeom>
          <a:solidFill>
            <a:srgbClr val="FFF5E8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575" b="1">
                <a:solidFill>
                  <a:srgbClr val="0D1B26"/>
                </a:solidFill>
              </a:defRPr>
            </a:defPPr>
          </a:lstStyle>
          <a:p>
            <a:pPr>
              <a:defRPr sz="1575" b="1">
                <a:solidFill>
                  <a:srgbClr val="0D1B26"/>
                </a:solidFill>
              </a:defRPr>
            </a:pPr>
            <a:r>
              <a:rPr sz="1575" b="1">
                <a:solidFill>
                  <a:srgbClr val="0D1B26"/>
                </a:solidFill>
              </a:rPr>
              <a:t>400k production</a:t>
            </a:r>
            <a:endParaRPr sz="1575" b="1">
              <a:solidFill>
                <a:srgbClr val="0D1B26"/>
              </a:solidFill>
            </a:endParaRPr>
          </a:p>
          <a:p>
            <a:pPr>
              <a:defRPr sz="1575" b="1">
                <a:solidFill>
                  <a:srgbClr val="0D1B26"/>
                </a:solidFill>
              </a:defRPr>
            </a:pPr>
            <a:r>
              <a:rPr sz="1575" b="1">
                <a:solidFill>
                  <a:srgbClr val="0D1B26"/>
                </a:solidFill>
              </a:rPr>
              <a:t>20k staging</a:t>
            </a:r>
            <a:endParaRPr sz="1575" b="1">
              <a:solidFill>
                <a:srgbClr val="0D1B26"/>
              </a:solidFill>
            </a:endParaRPr>
          </a:p>
          <a:p>
            <a:pPr>
              <a:defRPr sz="1575" b="1">
                <a:solidFill>
                  <a:srgbClr val="0D1B26"/>
                </a:solidFill>
              </a:defRPr>
            </a:pPr>
            <a:r>
              <a:rPr sz="1575" b="1">
                <a:solidFill>
                  <a:srgbClr val="0D1B26"/>
                </a:solidFill>
              </a:rPr>
              <a:t>80s billable estimate</a:t>
            </a:r>
            <a:endParaRPr sz="1575" b="1">
              <a:solidFill>
                <a:srgbClr val="0D1B26"/>
              </a:solidFill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3295650" y="2143125"/>
            <a:ext cx="2476500" cy="1095375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500" b="1">
                <a:solidFill>
                  <a:srgbClr val="0D1B26"/>
                </a:solidFill>
              </a:defRPr>
            </a:defPPr>
          </a:lstStyle>
          <a:p>
            <a:pPr>
              <a:defRPr sz="1500" b="1">
                <a:solidFill>
                  <a:srgbClr val="0D1B26"/>
                </a:solidFill>
              </a:defRPr>
            </a:pPr>
            <a:r>
              <a:rPr sz="1500" b="1">
                <a:solidFill>
                  <a:srgbClr val="0D1B26"/>
                </a:solidFill>
              </a:rPr>
              <a:t>0.5 vCPU · 1 GB</a:t>
            </a:r>
            <a:endParaRPr sz="1500" b="1">
              <a:solidFill>
                <a:srgbClr val="0D1B26"/>
              </a:solidFill>
            </a:endParaRPr>
          </a:p>
          <a:p>
            <a:pPr>
              <a:defRPr sz="1500" b="1">
                <a:solidFill>
                  <a:srgbClr val="0D1B26"/>
                </a:solidFill>
              </a:defRPr>
            </a:pPr>
            <a:r>
              <a:rPr sz="1500" b="1">
                <a:solidFill>
                  <a:srgbClr val="0D1B26"/>
                </a:solidFill>
              </a:rPr>
              <a:t>120s hard timeout</a:t>
            </a:r>
            <a:endParaRPr sz="1500" b="1">
              <a:solidFill>
                <a:srgbClr val="0D1B26"/>
              </a:solidFill>
            </a:endParaRPr>
          </a:p>
          <a:p>
            <a:pPr>
              <a:defRPr sz="1500" b="1">
                <a:solidFill>
                  <a:srgbClr val="0D1B26"/>
                </a:solidFill>
              </a:defRPr>
            </a:pPr>
            <a:r>
              <a:rPr sz="1500" b="1">
                <a:solidFill>
                  <a:srgbClr val="0D1B26"/>
                </a:solidFill>
              </a:rPr>
              <a:t>1 MB output</a:t>
            </a:r>
            <a:endParaRPr sz="1500" b="1">
              <a:solidFill>
                <a:srgbClr val="0D1B26"/>
              </a:solidFill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6057900" y="2143125"/>
            <a:ext cx="2476500" cy="1095375"/>
          </a:xfrm>
          <a:prstGeom prst="roundRect">
            <a:avLst>
              <a:gd name="adj" fmla="val 6957"/>
            </a:avLst>
          </a:prstGeom>
          <a:solidFill>
            <a:srgbClr val="D9EDF6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425" b="1">
                <a:solidFill>
                  <a:srgbClr val="0D1B26"/>
                </a:solidFill>
              </a:defRPr>
            </a:defPPr>
          </a:lstStyle>
          <a:p>
            <a:pPr>
              <a:defRPr sz="1425" b="1">
                <a:solidFill>
                  <a:srgbClr val="0D1B26"/>
                </a:solidFill>
              </a:defRPr>
            </a:pPr>
            <a:r>
              <a:rPr sz="1425" b="1">
                <a:solidFill>
                  <a:srgbClr val="0D1B26"/>
                </a:solidFill>
              </a:rPr>
              <a:t>No NAT/IGW</a:t>
            </a:r>
            <a:endParaRPr sz="1425" b="1">
              <a:solidFill>
                <a:srgbClr val="0D1B26"/>
              </a:solidFill>
            </a:endParaRPr>
          </a:p>
          <a:p>
            <a:pPr>
              <a:defRPr sz="1425" b="1">
                <a:solidFill>
                  <a:srgbClr val="0D1B26"/>
                </a:solidFill>
              </a:defRPr>
            </a:pPr>
            <a:r>
              <a:rPr sz="1425" b="1">
                <a:solidFill>
                  <a:srgbClr val="0D1B26"/>
                </a:solidFill>
              </a:rPr>
              <a:t>ECR/Logs/S3 endpoints</a:t>
            </a:r>
            <a:endParaRPr sz="1425" b="1">
              <a:solidFill>
                <a:srgbClr val="0D1B26"/>
              </a:solidFill>
            </a:endParaRPr>
          </a:p>
          <a:p>
            <a:pPr>
              <a:defRPr sz="1425" b="1">
                <a:solidFill>
                  <a:srgbClr val="0D1B26"/>
                </a:solidFill>
              </a:defRPr>
            </a:pPr>
            <a:r>
              <a:rPr sz="1425" b="1">
                <a:solidFill>
                  <a:srgbClr val="0D1B26"/>
                </a:solidFill>
              </a:rPr>
              <a:t>no task role</a:t>
            </a:r>
            <a:endParaRPr sz="1425" b="1">
              <a:solidFill>
                <a:srgbClr val="0D1B26"/>
              </a:solidFill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8820150" y="2143125"/>
            <a:ext cx="2476500" cy="1095375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425" b="1">
                <a:solidFill>
                  <a:srgbClr val="0D1B26"/>
                </a:solidFill>
              </a:defRPr>
            </a:defPPr>
          </a:lstStyle>
          <a:p>
            <a:pPr>
              <a:defRPr sz="1425" b="1">
                <a:solidFill>
                  <a:srgbClr val="0D1B26"/>
                </a:solidFill>
              </a:defRPr>
            </a:pPr>
            <a:r>
              <a:rPr sz="1425" b="1">
                <a:solidFill>
                  <a:srgbClr val="0D1B26"/>
                </a:solidFill>
              </a:rPr>
              <a:t>128 task peak</a:t>
            </a:r>
            <a:endParaRPr sz="1425" b="1">
              <a:solidFill>
                <a:srgbClr val="0D1B26"/>
              </a:solidFill>
            </a:endParaRPr>
          </a:p>
          <a:p>
            <a:pPr>
              <a:defRPr sz="1425" b="1">
                <a:solidFill>
                  <a:srgbClr val="0D1B26"/>
                </a:solidFill>
              </a:defRPr>
            </a:pPr>
            <a:r>
              <a:rPr sz="1425" b="1">
                <a:solidFill>
                  <a:srgbClr val="0D1B26"/>
                </a:solidFill>
              </a:rPr>
              <a:t>64 vCPU</a:t>
            </a:r>
            <a:endParaRPr sz="1425" b="1">
              <a:solidFill>
                <a:srgbClr val="0D1B26"/>
              </a:solidFill>
            </a:endParaRPr>
          </a:p>
          <a:p>
            <a:pPr>
              <a:defRPr sz="1425" b="1">
                <a:solidFill>
                  <a:srgbClr val="0D1B26"/>
                </a:solidFill>
              </a:defRPr>
            </a:pPr>
            <a:r>
              <a:rPr sz="1425" b="1">
                <a:solidFill>
                  <a:srgbClr val="0D1B26"/>
                </a:solidFill>
              </a:rPr>
              <a:t>quota ≥96 vCPU pending</a:t>
            </a:r>
            <a:endParaRPr sz="1425" b="1">
              <a:solidFill>
                <a:srgbClr val="0D1B26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85800" y="4048125"/>
            <a:ext cx="1047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0D1B26"/>
                </a:solidFill>
              </a:defRPr>
            </a:defPPr>
          </a:lstStyle>
          <a:p>
            <a:pPr>
              <a:defRPr sz="1500" b="0">
                <a:solidFill>
                  <a:srgbClr val="0D1B26"/>
                </a:solidFill>
              </a:defRPr>
            </a:pPr>
            <a:r>
              <a:rPr sz="1500" b="0">
                <a:solidFill>
                  <a:srgbClr val="0D1B26"/>
                </a:solidFill>
              </a:rPr>
              <a:t>Cùng task không phải security boundary: guest WASI không socket, không host path, không AWS credential. Code native/pip install runtime không nằm trong baseline; nếu cần phải báo giá lại Firecracker/Kata.</a:t>
            </a:r>
            <a:endParaRPr sz="1500" b="0">
              <a:solidFill>
                <a:srgbClr val="0D1B26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685800" y="5286375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B45309"/>
                </a:solidFill>
              </a:defRPr>
            </a:defPPr>
          </a:lstStyle>
          <a:p>
            <a:pPr>
              <a:defRPr sz="1575" b="1">
                <a:solidFill>
                  <a:srgbClr val="B45309"/>
                </a:solidFill>
              </a:defRPr>
            </a:pPr>
            <a:r>
              <a:rPr sz="1575" b="1">
                <a:solidFill>
                  <a:srgbClr val="B45309"/>
                </a:solidFill>
              </a:rPr>
              <a:t>Sandbox cost: $287.46/month · endpoints riêng đã nằm trong sandbox, không cộng lại network.</a:t>
            </a:r>
            <a:endParaRPr sz="1575" b="1">
              <a:solidFill>
                <a:srgbClr val="B45309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533400" y="6477000"/>
            <a:ext cx="1104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4F6270"/>
                </a:solidFill>
              </a:defRPr>
            </a:defPPr>
          </a:lstStyle>
          <a:p>
            <a:pPr>
              <a:defRPr sz="900" b="0">
                <a:solidFill>
                  <a:srgbClr val="4F6270"/>
                </a:solidFill>
              </a:defRPr>
            </a:pPr>
            <a:r>
              <a:rPr sz="900" b="0">
                <a:solidFill>
                  <a:srgbClr val="4F6270"/>
                </a:solidFill>
              </a:rPr>
              <a:t>AWS ap-southeast-1 · 2 AZ · USD/tháng chưa VAT</a:t>
            </a:r>
            <a:endParaRPr sz="900" b="0">
              <a:solidFill>
                <a:srgbClr val="4F627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Rectangle 10"/>
          <p:cNvSpPr>
            <a:spLocks noGrp="1"/>
          </p:cNvSpPr>
          <p:nvPr/>
        </p:nvSpPr>
        <p:spPr>
          <a:xfrm>
            <a:off x="533400" y="2857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0B6E99"/>
                </a:solidFill>
              </a:defRPr>
            </a:defPPr>
          </a:lstStyle>
          <a:p>
            <a:pPr>
              <a:defRPr sz="975" b="1">
                <a:solidFill>
                  <a:srgbClr val="0B6E99"/>
                </a:solidFill>
              </a:defRPr>
            </a:pPr>
            <a:r>
              <a:rPr sz="975" b="1">
                <a:solidFill>
                  <a:srgbClr val="0B6E99"/>
                </a:solidFill>
              </a:rPr>
              <a:t>VBOT WORKPLACE · G03</a:t>
            </a:r>
            <a:endParaRPr sz="975" b="1">
              <a:solidFill>
                <a:srgbClr val="0B6E99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33400" y="6477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0D1B26"/>
                </a:solidFill>
              </a:defRPr>
            </a:defPPr>
          </a:lstStyle>
          <a:p>
            <a:pPr>
              <a:defRPr sz="2550" b="1">
                <a:solidFill>
                  <a:srgbClr val="0D1B26"/>
                </a:solidFill>
              </a:defRPr>
            </a:pPr>
            <a:r>
              <a:rPr sz="2550" b="1">
                <a:solidFill>
                  <a:srgbClr val="0D1B26"/>
                </a:solidFill>
              </a:rPr>
              <a:t>AI governance và data governance</a:t>
            </a:r>
            <a:endParaRPr sz="2550" b="1">
              <a:solidFill>
                <a:srgbClr val="0D1B26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33400" y="1181100"/>
            <a:ext cx="1104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4F6270"/>
                </a:solidFill>
              </a:defRPr>
            </a:defPPr>
          </a:lstStyle>
          <a:p>
            <a:pPr>
              <a:defRPr sz="1275" b="0">
                <a:solidFill>
                  <a:srgbClr val="4F6270"/>
                </a:solidFill>
              </a:defRPr>
            </a:pPr>
            <a:r>
              <a:rPr sz="1275" b="0">
                <a:solidFill>
                  <a:srgbClr val="4F6270"/>
                </a:solidFill>
              </a:rPr>
              <a:t>Guardrails Standard hỗ trợ tiếng Việt nhưng có xử lý cross-Region APAC</a:t>
            </a:r>
            <a:endParaRPr sz="1275" b="0">
              <a:solidFill>
                <a:srgbClr val="4F6270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0953750" y="28575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4F6270"/>
                </a:solidFill>
              </a:defRPr>
            </a:defPPr>
          </a:lstStyle>
          <a:p>
            <a:pPr>
              <a:defRPr sz="975" b="1">
                <a:solidFill>
                  <a:srgbClr val="4F6270"/>
                </a:solidFill>
              </a:defRPr>
            </a:pPr>
            <a:r>
              <a:rPr sz="975" b="1">
                <a:solidFill>
                  <a:srgbClr val="4F6270"/>
                </a:solidFill>
              </a:rPr>
              <a:t>08 / 12</a:t>
            </a:r>
            <a:endParaRPr sz="975" b="1">
              <a:solidFill>
                <a:srgbClr val="4F6270"/>
              </a:solidFill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533400" y="1952625"/>
            <a:ext cx="5095875" cy="400050"/>
          </a:xfrm>
          <a:prstGeom prst="roundRect">
            <a:avLst>
              <a:gd name="adj" fmla="val 19048"/>
            </a:avLst>
          </a:prstGeom>
          <a:solidFill>
            <a:srgbClr val="D9EDF6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425" b="1">
                <a:solidFill>
                  <a:srgbClr val="0B6E99"/>
                </a:solidFill>
              </a:defRPr>
            </a:defPPr>
          </a:lstStyle>
          <a:p>
            <a:pPr>
              <a:defRPr sz="1425" b="1">
                <a:solidFill>
                  <a:srgbClr val="0B6E99"/>
                </a:solidFill>
              </a:defRPr>
            </a:pPr>
            <a:r>
              <a:rPr sz="1425" b="1">
                <a:solidFill>
                  <a:srgbClr val="0B6E99"/>
                </a:solidFill>
              </a:rPr>
              <a:t>Before / after inference</a:t>
            </a:r>
            <a:endParaRPr sz="1425" b="1">
              <a:solidFill>
                <a:srgbClr val="0B6E99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2524125"/>
            <a:ext cx="47625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D1B26"/>
                </a:solidFill>
              </a:defRPr>
            </a:defPPr>
          </a:lstStyle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Before: classification → DLP/PII → prompt attack → model</a:t>
            </a:r>
            <a:endParaRPr sz="1425" b="0">
              <a:solidFill>
                <a:srgbClr val="0D1B26"/>
              </a:solidFill>
            </a:endParaRPr>
          </a:p>
          <a:p>
            <a:endParaRPr sz="1425"/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After: output guardrail → DLP → ACL → response</a:t>
            </a:r>
            <a:endParaRPr sz="1425" b="0">
              <a:solidFill>
                <a:srgbClr val="0D1B26"/>
              </a:solidFill>
            </a:endParaRPr>
          </a:p>
          <a:p>
            <a:endParaRPr sz="1425"/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Connector data is untrusted; tool result gets separate prompt-attack check.</a:t>
            </a:r>
            <a:endParaRPr sz="1425" b="0">
              <a:solidFill>
                <a:srgbClr val="0D1B26"/>
              </a:solidFill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6096000" y="1952625"/>
            <a:ext cx="5095875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425" b="1">
                <a:solidFill>
                  <a:srgbClr val="0B6E99"/>
                </a:solidFill>
              </a:defRPr>
            </a:defPPr>
          </a:lstStyle>
          <a:p>
            <a:pPr>
              <a:defRPr sz="1425" b="1">
                <a:solidFill>
                  <a:srgbClr val="0B6E99"/>
                </a:solidFill>
              </a:defRPr>
            </a:pPr>
            <a:r>
              <a:rPr sz="1425" b="1">
                <a:solidFill>
                  <a:srgbClr val="0B6E99"/>
                </a:solidFill>
              </a:rPr>
              <a:t>Human control</a:t>
            </a:r>
            <a:endParaRPr sz="1425" b="1">
              <a:solidFill>
                <a:srgbClr val="0B6E99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248400" y="2524125"/>
            <a:ext cx="47625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D1B26"/>
                </a:solidFill>
              </a:defRPr>
            </a:defPPr>
          </a:lstStyle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send_email / ticket / delete file:</a:t>
            </a:r>
            <a:endParaRPr sz="1425" b="0">
              <a:solidFill>
                <a:srgbClr val="0D1B26"/>
              </a:solidFill>
            </a:endParaRPr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proposal → payload hash → approval nonce → re-authz → execute</a:t>
            </a:r>
            <a:endParaRPr sz="1425" b="0">
              <a:solidFill>
                <a:srgbClr val="0D1B26"/>
              </a:solidFill>
            </a:endParaRPr>
          </a:p>
          <a:p>
            <a:endParaRPr sz="1425"/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Audit 12 months Object Lock</a:t>
            </a:r>
            <a:endParaRPr sz="1425" b="0">
              <a:solidFill>
                <a:srgbClr val="0D1B26"/>
              </a:solidFill>
            </a:endParaRPr>
          </a:p>
          <a:p>
            <a:endParaRPr sz="1425"/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No raw prompt, token, key in logs.</a:t>
            </a:r>
            <a:endParaRPr sz="1425" b="0">
              <a:solidFill>
                <a:srgbClr val="0D1B26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533400" y="581025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B45309"/>
                </a:solidFill>
              </a:defRPr>
            </a:defPPr>
          </a:lstStyle>
          <a:p>
            <a:pPr>
              <a:defRPr sz="1575" b="1">
                <a:solidFill>
                  <a:srgbClr val="B45309"/>
                </a:solidFill>
              </a:defRPr>
            </a:pPr>
            <a:r>
              <a:rPr sz="1575" b="1">
                <a:solidFill>
                  <a:srgbClr val="B45309"/>
                </a:solidFill>
              </a:rPr>
              <a:t>Governance + audit subtotal: $1,966.36/month · model/image inference charges are separate.</a:t>
            </a:r>
            <a:endParaRPr sz="1575" b="1">
              <a:solidFill>
                <a:srgbClr val="B45309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533400" y="6477000"/>
            <a:ext cx="1104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4F6270"/>
                </a:solidFill>
              </a:defRPr>
            </a:defPPr>
          </a:lstStyle>
          <a:p>
            <a:pPr>
              <a:defRPr sz="900" b="0">
                <a:solidFill>
                  <a:srgbClr val="4F6270"/>
                </a:solidFill>
              </a:defRPr>
            </a:pPr>
            <a:r>
              <a:rPr sz="900" b="0">
                <a:solidFill>
                  <a:srgbClr val="4F6270"/>
                </a:solidFill>
              </a:rPr>
              <a:t>H4/H5 designed; guardrail language/residency and H8 safety still require pilot evidence</a:t>
            </a:r>
            <a:endParaRPr sz="900" b="0">
              <a:solidFill>
                <a:srgbClr val="4F627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ectangle 12"/>
          <p:cNvSpPr>
            <a:spLocks noGrp="1"/>
          </p:cNvSpPr>
          <p:nvPr/>
        </p:nvSpPr>
        <p:spPr>
          <a:xfrm>
            <a:off x="533400" y="2857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0B6E99"/>
                </a:solidFill>
              </a:defRPr>
            </a:defPPr>
          </a:lstStyle>
          <a:p>
            <a:pPr>
              <a:defRPr sz="975" b="1">
                <a:solidFill>
                  <a:srgbClr val="0B6E99"/>
                </a:solidFill>
              </a:defRPr>
            </a:pPr>
            <a:r>
              <a:rPr sz="975" b="1">
                <a:solidFill>
                  <a:srgbClr val="0B6E99"/>
                </a:solidFill>
              </a:rPr>
              <a:t>VBOT WORKPLACE · G03</a:t>
            </a:r>
            <a:endParaRPr sz="975" b="1">
              <a:solidFill>
                <a:srgbClr val="0B6E99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33400" y="6477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0D1B26"/>
                </a:solidFill>
              </a:defRPr>
            </a:defPPr>
          </a:lstStyle>
          <a:p>
            <a:pPr>
              <a:defRPr sz="2550" b="1">
                <a:solidFill>
                  <a:srgbClr val="0D1B26"/>
                </a:solidFill>
              </a:defRPr>
            </a:pPr>
            <a:r>
              <a:rPr sz="2550" b="1">
                <a:solidFill>
                  <a:srgbClr val="0D1B26"/>
                </a:solidFill>
              </a:rPr>
              <a:t>HA, backup và DR</a:t>
            </a:r>
            <a:endParaRPr sz="2550" b="1">
              <a:solidFill>
                <a:srgbClr val="0D1B26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33400" y="1181100"/>
            <a:ext cx="1104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4F6270"/>
                </a:solidFill>
              </a:defRPr>
            </a:defPPr>
          </a:lstStyle>
          <a:p>
            <a:pPr>
              <a:defRPr sz="1275" b="0">
                <a:solidFill>
                  <a:srgbClr val="4F6270"/>
                </a:solidFill>
              </a:defRPr>
            </a:pPr>
            <a:r>
              <a:rPr sz="1275" b="0">
                <a:solidFill>
                  <a:srgbClr val="4F6270"/>
                </a:solidFill>
              </a:rPr>
              <a:t>Thiết kế multi-AZ; RTO/RPO là mục tiêu cần restore test</a:t>
            </a:r>
            <a:endParaRPr sz="1275" b="0">
              <a:solidFill>
                <a:srgbClr val="4F6270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0953750" y="28575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4F6270"/>
                </a:solidFill>
              </a:defRPr>
            </a:defPPr>
          </a:lstStyle>
          <a:p>
            <a:pPr>
              <a:defRPr sz="975" b="1">
                <a:solidFill>
                  <a:srgbClr val="4F6270"/>
                </a:solidFill>
              </a:defRPr>
            </a:pPr>
            <a:r>
              <a:rPr sz="975" b="1">
                <a:solidFill>
                  <a:srgbClr val="4F6270"/>
                </a:solidFill>
              </a:rPr>
              <a:t>09 / 12</a:t>
            </a:r>
            <a:endParaRPr sz="975" b="1">
              <a:solidFill>
                <a:srgbClr val="4F6270"/>
              </a:solidFill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666750" y="2333625"/>
            <a:ext cx="1809750" cy="904875"/>
          </a:xfrm>
          <a:prstGeom prst="roundRect">
            <a:avLst>
              <a:gd name="adj" fmla="val 8421"/>
            </a:avLst>
          </a:prstGeom>
          <a:solidFill>
            <a:srgbClr val="D9EDF6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500" b="1">
                <a:solidFill>
                  <a:srgbClr val="0D1B26"/>
                </a:solidFill>
              </a:defRPr>
            </a:defPPr>
          </a:lstStyle>
          <a:p>
            <a:pPr>
              <a:defRPr sz="1500" b="1">
                <a:solidFill>
                  <a:srgbClr val="0D1B26"/>
                </a:solidFill>
              </a:defRPr>
            </a:pPr>
            <a:r>
              <a:rPr sz="1500" b="1">
                <a:solidFill>
                  <a:srgbClr val="0D1B26"/>
                </a:solidFill>
              </a:rPr>
              <a:t>2 AZ</a:t>
            </a:r>
            <a:endParaRPr sz="1500" b="1">
              <a:solidFill>
                <a:srgbClr val="0D1B26"/>
              </a:solidFill>
            </a:endParaRPr>
          </a:p>
          <a:p>
            <a:pPr>
              <a:defRPr sz="1500" b="1">
                <a:solidFill>
                  <a:srgbClr val="0D1B26"/>
                </a:solidFill>
              </a:defRPr>
            </a:pPr>
            <a:r>
              <a:rPr sz="1500" b="1">
                <a:solidFill>
                  <a:srgbClr val="0D1B26"/>
                </a:solidFill>
              </a:rPr>
              <a:t>ALB + app</a:t>
            </a:r>
            <a:endParaRPr sz="1500" b="1">
              <a:solidFill>
                <a:srgbClr val="0D1B26"/>
              </a:solidFill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2857500" y="2333625"/>
            <a:ext cx="20955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425" b="1">
                <a:solidFill>
                  <a:srgbClr val="0D1B26"/>
                </a:solidFill>
              </a:defRPr>
            </a:defPPr>
          </a:lstStyle>
          <a:p>
            <a:pPr>
              <a:defRPr sz="1425" b="1">
                <a:solidFill>
                  <a:srgbClr val="0D1B26"/>
                </a:solidFill>
              </a:defRPr>
            </a:pPr>
            <a:r>
              <a:rPr sz="1425" b="1">
                <a:solidFill>
                  <a:srgbClr val="0D1B26"/>
                </a:solidFill>
              </a:rPr>
              <a:t>RDS PostgreSQL</a:t>
            </a:r>
            <a:endParaRPr sz="1425" b="1">
              <a:solidFill>
                <a:srgbClr val="0D1B26"/>
              </a:solidFill>
            </a:endParaRPr>
          </a:p>
          <a:p>
            <a:pPr>
              <a:defRPr sz="1425" b="1">
                <a:solidFill>
                  <a:srgbClr val="0D1B26"/>
                </a:solidFill>
              </a:defRPr>
            </a:pPr>
            <a:r>
              <a:rPr sz="1425" b="1">
                <a:solidFill>
                  <a:srgbClr val="0D1B26"/>
                </a:solidFill>
              </a:rPr>
              <a:t>Multi-AZ prod</a:t>
            </a:r>
            <a:endParaRPr sz="1425" b="1">
              <a:solidFill>
                <a:srgbClr val="0D1B26"/>
              </a:solidFill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5334000" y="2333625"/>
            <a:ext cx="20955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350" b="1">
                <a:solidFill>
                  <a:srgbClr val="0D1B26"/>
                </a:solidFill>
              </a:defRPr>
            </a:defPPr>
          </a:lstStyle>
          <a:p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S3 workspace</a:t>
            </a:r>
            <a:endParaRPr sz="1350" b="1">
              <a:solidFill>
                <a:srgbClr val="0D1B26"/>
              </a:solidFill>
            </a:endParaRPr>
          </a:p>
          <a:p>
            <a:pPr>
              <a:defRPr sz="1350" b="1">
                <a:solidFill>
                  <a:srgbClr val="0D1B26"/>
                </a:solidFill>
              </a:defRPr>
            </a:pPr>
            <a:r>
              <a:rPr sz="1350" b="1">
                <a:solidFill>
                  <a:srgbClr val="0D1B26"/>
                </a:solidFill>
              </a:rPr>
              <a:t>replica + Object Lock</a:t>
            </a:r>
            <a:endParaRPr sz="1350" b="1">
              <a:solidFill>
                <a:srgbClr val="0D1B26"/>
              </a:solidFill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7810500" y="2333625"/>
            <a:ext cx="1809750" cy="904875"/>
          </a:xfrm>
          <a:prstGeom prst="roundRect">
            <a:avLst>
              <a:gd name="adj" fmla="val 8421"/>
            </a:avLst>
          </a:prstGeom>
          <a:solidFill>
            <a:srgbClr val="D9EDF6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425" b="1">
                <a:solidFill>
                  <a:srgbClr val="0D1B26"/>
                </a:solidFill>
              </a:defRPr>
            </a:defPPr>
          </a:lstStyle>
          <a:p>
            <a:pPr>
              <a:defRPr sz="1425" b="1">
                <a:solidFill>
                  <a:srgbClr val="0D1B26"/>
                </a:solidFill>
              </a:defRPr>
            </a:pPr>
            <a:r>
              <a:rPr sz="1425" b="1">
                <a:solidFill>
                  <a:srgbClr val="0D1B26"/>
                </a:solidFill>
              </a:rPr>
              <a:t>Backup</a:t>
            </a:r>
            <a:endParaRPr sz="1425" b="1">
              <a:solidFill>
                <a:srgbClr val="0D1B26"/>
              </a:solidFill>
            </a:endParaRPr>
          </a:p>
          <a:p>
            <a:pPr>
              <a:defRPr sz="1425" b="1">
                <a:solidFill>
                  <a:srgbClr val="0D1B26"/>
                </a:solidFill>
              </a:defRPr>
            </a:pPr>
            <a:r>
              <a:rPr sz="1425" b="1">
                <a:solidFill>
                  <a:srgbClr val="0D1B26"/>
                </a:solidFill>
              </a:rPr>
              <a:t>restore drill</a:t>
            </a:r>
            <a:endParaRPr sz="1425" b="1">
              <a:solidFill>
                <a:srgbClr val="0D1B26"/>
              </a:solidFill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9906000" y="2333625"/>
            <a:ext cx="142875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500" b="1">
                <a:solidFill>
                  <a:srgbClr val="0D1B26"/>
                </a:solidFill>
              </a:defRPr>
            </a:defPPr>
          </a:lstStyle>
          <a:p>
            <a:pPr>
              <a:defRPr sz="1500" b="1">
                <a:solidFill>
                  <a:srgbClr val="0D1B26"/>
                </a:solidFill>
              </a:defRPr>
            </a:pPr>
            <a:r>
              <a:rPr sz="1500" b="1">
                <a:solidFill>
                  <a:srgbClr val="0D1B26"/>
                </a:solidFill>
              </a:rPr>
              <a:t>RTO 4h</a:t>
            </a:r>
            <a:endParaRPr sz="1500" b="1">
              <a:solidFill>
                <a:srgbClr val="0D1B26"/>
              </a:solidFill>
            </a:endParaRPr>
          </a:p>
          <a:p>
            <a:pPr>
              <a:defRPr sz="1500" b="1">
                <a:solidFill>
                  <a:srgbClr val="0D1B26"/>
                </a:solidFill>
              </a:defRPr>
            </a:pPr>
            <a:r>
              <a:rPr sz="1500" b="1">
                <a:solidFill>
                  <a:srgbClr val="0D1B26"/>
                </a:solidFill>
              </a:rPr>
              <a:t>RPO 1h</a:t>
            </a:r>
            <a:endParaRPr sz="1500" b="1">
              <a:solidFill>
                <a:srgbClr val="0D1B26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666750" y="4095750"/>
            <a:ext cx="4953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0D1B26"/>
                </a:solidFill>
              </a:defRPr>
            </a:defPPr>
          </a:lstStyle>
          <a:p>
            <a:pPr>
              <a:defRPr sz="1500" b="0">
                <a:solidFill>
                  <a:srgbClr val="0D1B26"/>
                </a:solidFill>
              </a:defRPr>
            </a:pPr>
            <a:r>
              <a:rPr sz="1500" b="0">
                <a:solidFill>
                  <a:srgbClr val="0D1B26"/>
                </a:solidFill>
              </a:rPr>
              <a:t>Thành subtotal: $1,436.46/month</a:t>
            </a:r>
            <a:endParaRPr sz="1500" b="0">
              <a:solidFill>
                <a:srgbClr val="0D1B26"/>
              </a:solidFill>
            </a:endParaRPr>
          </a:p>
          <a:p>
            <a:endParaRPr sz="1500"/>
          </a:p>
          <a:p>
            <a:pPr>
              <a:defRPr sz="1500" b="0">
                <a:solidFill>
                  <a:srgbClr val="0D1B26"/>
                </a:solidFill>
              </a:defRPr>
            </a:pPr>
            <a:r>
              <a:rPr sz="1500" b="0">
                <a:solidFill>
                  <a:srgbClr val="0D1B26"/>
                </a:solidFill>
              </a:rPr>
              <a:t>No cross-Region DR cost is added to baseline; loss of Singapore requires a separate regional DR decision and price.</a:t>
            </a:r>
            <a:endParaRPr sz="1500" b="0">
              <a:solidFill>
                <a:srgbClr val="0D1B26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6381750" y="4095750"/>
            <a:ext cx="4953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0D1B26"/>
                </a:solidFill>
              </a:defRPr>
            </a:defPPr>
          </a:lstStyle>
          <a:p>
            <a:pPr>
              <a:defRPr sz="1500" b="0">
                <a:solidFill>
                  <a:srgbClr val="0D1B26"/>
                </a:solidFill>
              </a:defRPr>
            </a:pPr>
            <a:r>
              <a:rPr sz="1500" b="0">
                <a:solidFill>
                  <a:srgbClr val="0D1B26"/>
                </a:solidFill>
              </a:rPr>
              <a:t>Status</a:t>
            </a:r>
            <a:endParaRPr sz="1500" b="0">
              <a:solidFill>
                <a:srgbClr val="0D1B26"/>
              </a:solidFill>
            </a:endParaRPr>
          </a:p>
          <a:p>
            <a:pPr>
              <a:defRPr sz="1500" b="0">
                <a:solidFill>
                  <a:srgbClr val="0D1B26"/>
                </a:solidFill>
              </a:defRPr>
            </a:pPr>
            <a:r>
              <a:rPr sz="1500" b="0">
                <a:solidFill>
                  <a:srgbClr val="0D1B26"/>
                </a:solidFill>
              </a:rPr>
              <a:t>Designed: multi-AZ, backup policy, restore path</a:t>
            </a:r>
            <a:endParaRPr sz="1500" b="0">
              <a:solidFill>
                <a:srgbClr val="0D1B26"/>
              </a:solidFill>
            </a:endParaRPr>
          </a:p>
          <a:p>
            <a:endParaRPr sz="1500"/>
          </a:p>
          <a:p>
            <a:pPr>
              <a:defRPr sz="1500" b="0">
                <a:solidFill>
                  <a:srgbClr val="0D1B26"/>
                </a:solidFill>
              </a:defRPr>
            </a:pPr>
            <a:r>
              <a:rPr sz="1500" b="0">
                <a:solidFill>
                  <a:srgbClr val="0D1B26"/>
                </a:solidFill>
              </a:rPr>
              <a:t>Not verified: failover, restore timing, 99.5% availability under load</a:t>
            </a:r>
            <a:endParaRPr sz="1500" b="0">
              <a:solidFill>
                <a:srgbClr val="0D1B26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533400" y="6477000"/>
            <a:ext cx="1104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4F6270"/>
                </a:solidFill>
              </a:defRPr>
            </a:defPPr>
          </a:lstStyle>
          <a:p>
            <a:pPr>
              <a:defRPr sz="900" b="0">
                <a:solidFill>
                  <a:srgbClr val="4F6270"/>
                </a:solidFill>
              </a:defRPr>
            </a:pPr>
            <a:r>
              <a:rPr sz="900" b="0">
                <a:solidFill>
                  <a:srgbClr val="4F6270"/>
                </a:solidFill>
              </a:rPr>
              <a:t>H7 is a design target until failover and restore drills complete</a:t>
            </a:r>
            <a:endParaRPr sz="900" b="0">
              <a:solidFill>
                <a:srgbClr val="4F627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Rectangle 9"/>
          <p:cNvSpPr>
            <a:spLocks noGrp="1"/>
          </p:cNvSpPr>
          <p:nvPr/>
        </p:nvSpPr>
        <p:spPr>
          <a:xfrm>
            <a:off x="533400" y="2857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0B6E99"/>
                </a:solidFill>
              </a:defRPr>
            </a:defPPr>
          </a:lstStyle>
          <a:p>
            <a:pPr>
              <a:defRPr sz="975" b="1">
                <a:solidFill>
                  <a:srgbClr val="0B6E99"/>
                </a:solidFill>
              </a:defRPr>
            </a:pPr>
            <a:r>
              <a:rPr sz="975" b="1">
                <a:solidFill>
                  <a:srgbClr val="0B6E99"/>
                </a:solidFill>
              </a:rPr>
              <a:t>VBOT WORKPLACE · G03</a:t>
            </a:r>
            <a:endParaRPr sz="975" b="1">
              <a:solidFill>
                <a:srgbClr val="0B6E99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33400" y="6477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0D1B26"/>
                </a:solidFill>
              </a:defRPr>
            </a:defPPr>
          </a:lstStyle>
          <a:p>
            <a:pPr>
              <a:defRPr sz="2550" b="1">
                <a:solidFill>
                  <a:srgbClr val="0D1B26"/>
                </a:solidFill>
              </a:defRPr>
            </a:pPr>
            <a:r>
              <a:rPr sz="2550" b="1">
                <a:solidFill>
                  <a:srgbClr val="0D1B26"/>
                </a:solidFill>
              </a:rPr>
              <a:t>Monitoring và FinOps</a:t>
            </a:r>
            <a:endParaRPr sz="2550" b="1">
              <a:solidFill>
                <a:srgbClr val="0D1B26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33400" y="1181100"/>
            <a:ext cx="1104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4F6270"/>
                </a:solidFill>
              </a:defRPr>
            </a:defPPr>
          </a:lstStyle>
          <a:p>
            <a:pPr>
              <a:defRPr sz="1275" b="0">
                <a:solidFill>
                  <a:srgbClr val="4F6270"/>
                </a:solidFill>
              </a:defRPr>
            </a:pPr>
            <a:r>
              <a:rPr sz="1275" b="0">
                <a:solidFill>
                  <a:srgbClr val="4F6270"/>
                </a:solidFill>
              </a:rPr>
              <a:t>Theo dõi usage ledger thay vì tạo 2.000 metric dimensions</a:t>
            </a:r>
            <a:endParaRPr sz="1275" b="0">
              <a:solidFill>
                <a:srgbClr val="4F6270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0953750" y="28575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4F6270"/>
                </a:solidFill>
              </a:defRPr>
            </a:defPPr>
          </a:lstStyle>
          <a:p>
            <a:pPr>
              <a:defRPr sz="975" b="1">
                <a:solidFill>
                  <a:srgbClr val="4F6270"/>
                </a:solidFill>
              </a:defRPr>
            </a:pPr>
            <a:r>
              <a:rPr sz="975" b="1">
                <a:solidFill>
                  <a:srgbClr val="4F6270"/>
                </a:solidFill>
              </a:rPr>
              <a:t>10 / 12</a:t>
            </a:r>
            <a:endParaRPr sz="975" b="1">
              <a:solidFill>
                <a:srgbClr val="4F6270"/>
              </a:solidFill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533400" y="1952625"/>
            <a:ext cx="5095875" cy="400050"/>
          </a:xfrm>
          <a:prstGeom prst="roundRect">
            <a:avLst>
              <a:gd name="adj" fmla="val 19048"/>
            </a:avLst>
          </a:prstGeom>
          <a:solidFill>
            <a:srgbClr val="D9EDF6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425" b="1">
                <a:solidFill>
                  <a:srgbClr val="0B6E99"/>
                </a:solidFill>
              </a:defRPr>
            </a:defPPr>
          </a:lstStyle>
          <a:p>
            <a:pPr>
              <a:defRPr sz="1425" b="1">
                <a:solidFill>
                  <a:srgbClr val="0B6E99"/>
                </a:solidFill>
              </a:defRPr>
            </a:pPr>
            <a:r>
              <a:rPr sz="1425" b="1">
                <a:solidFill>
                  <a:srgbClr val="0B6E99"/>
                </a:solidFill>
              </a:rPr>
              <a:t>Signals</a:t>
            </a:r>
            <a:endParaRPr sz="1425" b="1">
              <a:solidFill>
                <a:srgbClr val="0B6E99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2524125"/>
            <a:ext cx="47625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D1B26"/>
                </a:solidFill>
              </a:defRPr>
            </a:defPPr>
          </a:lstStyle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TTFT p50/p95 · model calls · tokens</a:t>
            </a:r>
            <a:endParaRPr sz="1425" b="0">
              <a:solidFill>
                <a:srgbClr val="0D1B26"/>
              </a:solidFill>
            </a:endParaRPr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4xx/5xx/throttle · queue age</a:t>
            </a:r>
            <a:endParaRPr sz="1425" b="0">
              <a:solidFill>
                <a:srgbClr val="0D1B26"/>
              </a:solidFill>
            </a:endParaRPr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sandbox timeout/egress</a:t>
            </a:r>
            <a:endParaRPr sz="1425" b="0">
              <a:solidFill>
                <a:srgbClr val="0D1B26"/>
              </a:solidFill>
            </a:endParaRPr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ACL denies · KMS decrypt anomaly</a:t>
            </a:r>
            <a:endParaRPr sz="1425" b="0">
              <a:solidFill>
                <a:srgbClr val="0D1B26"/>
              </a:solidFill>
            </a:endParaRPr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Guardrail blocks · budget 50/80/100%</a:t>
            </a:r>
            <a:endParaRPr sz="1425" b="0">
              <a:solidFill>
                <a:srgbClr val="0D1B26"/>
              </a:solidFill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6096000" y="1952625"/>
            <a:ext cx="5095875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425" b="1">
                <a:solidFill>
                  <a:srgbClr val="0B6E99"/>
                </a:solidFill>
              </a:defRPr>
            </a:defPPr>
          </a:lstStyle>
          <a:p>
            <a:pPr>
              <a:defRPr sz="1425" b="1">
                <a:solidFill>
                  <a:srgbClr val="0B6E99"/>
                </a:solidFill>
              </a:defRPr>
            </a:pPr>
            <a:r>
              <a:rPr sz="1425" b="1">
                <a:solidFill>
                  <a:srgbClr val="0B6E99"/>
                </a:solidFill>
              </a:rPr>
              <a:t>Cost controls</a:t>
            </a:r>
            <a:endParaRPr sz="1425" b="1">
              <a:solidFill>
                <a:srgbClr val="0B6E99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248400" y="2524125"/>
            <a:ext cx="47625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D1B26"/>
                </a:solidFill>
              </a:defRPr>
            </a:defPPr>
          </a:lstStyle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Usage ledger theo user/department</a:t>
            </a:r>
            <a:endParaRPr sz="1425" b="0">
              <a:solidFill>
                <a:srgbClr val="0D1B26"/>
              </a:solidFill>
            </a:endParaRPr>
          </a:p>
          <a:p>
            <a:endParaRPr sz="1425"/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Quota theo user + unit</a:t>
            </a:r>
            <a:endParaRPr sz="1425" b="0">
              <a:solidFill>
                <a:srgbClr val="0D1B26"/>
              </a:solidFill>
            </a:endParaRPr>
          </a:p>
          <a:p>
            <a:endParaRPr sz="1425"/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Giảm image/agent cấp cao trước</a:t>
            </a:r>
            <a:endParaRPr sz="1425" b="0">
              <a:solidFill>
                <a:srgbClr val="0D1B26"/>
              </a:solidFill>
            </a:endParaRPr>
          </a:p>
          <a:p>
            <a:endParaRPr sz="1425"/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Không tắt DLP/audit khi vượt budget</a:t>
            </a:r>
            <a:endParaRPr sz="1425" b="0">
              <a:solidFill>
                <a:srgbClr val="0D1B26"/>
              </a:solidFill>
            </a:endParaRPr>
          </a:p>
          <a:p>
            <a:endParaRPr sz="1425"/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Monitoring subtotal Tú: $25.26/month</a:t>
            </a:r>
            <a:endParaRPr sz="1425" b="0">
              <a:solidFill>
                <a:srgbClr val="0D1B26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533400" y="6477000"/>
            <a:ext cx="1104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4F6270"/>
                </a:solidFill>
              </a:defRPr>
            </a:defPPr>
          </a:lstStyle>
          <a:p>
            <a:pPr>
              <a:defRPr sz="900" b="0">
                <a:solidFill>
                  <a:srgbClr val="4F6270"/>
                </a:solidFill>
              </a:defRPr>
            </a:pPr>
            <a:r>
              <a:rPr sz="900" b="0">
                <a:solidFill>
                  <a:srgbClr val="4F6270"/>
                </a:solidFill>
              </a:rPr>
              <a:t>monitoring · governance · gateway · cache_queue · cicd</a:t>
            </a:r>
            <a:endParaRPr sz="900" b="0">
              <a:solidFill>
                <a:srgbClr val="4F627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Rectangle 9"/>
          <p:cNvSpPr>
            <a:spLocks noGrp="1"/>
          </p:cNvSpPr>
          <p:nvPr/>
        </p:nvSpPr>
        <p:spPr>
          <a:xfrm>
            <a:off x="533400" y="2857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0B6E99"/>
                </a:solidFill>
              </a:defRPr>
            </a:defPPr>
          </a:lstStyle>
          <a:p>
            <a:pPr>
              <a:defRPr sz="975" b="1">
                <a:solidFill>
                  <a:srgbClr val="0B6E99"/>
                </a:solidFill>
              </a:defRPr>
            </a:pPr>
            <a:r>
              <a:rPr sz="975" b="1">
                <a:solidFill>
                  <a:srgbClr val="0B6E99"/>
                </a:solidFill>
              </a:rPr>
              <a:t>VBOT WORKPLACE · G03</a:t>
            </a:r>
            <a:endParaRPr sz="975" b="1">
              <a:solidFill>
                <a:srgbClr val="0B6E99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33400" y="6477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0D1B26"/>
                </a:solidFill>
              </a:defRPr>
            </a:defPPr>
          </a:lstStyle>
          <a:p>
            <a:pPr>
              <a:defRPr sz="2550" b="1">
                <a:solidFill>
                  <a:srgbClr val="0D1B26"/>
                </a:solidFill>
              </a:defRPr>
            </a:pPr>
            <a:r>
              <a:rPr sz="2550" b="1">
                <a:solidFill>
                  <a:srgbClr val="0D1B26"/>
                </a:solidFill>
              </a:rPr>
              <a:t>Chi phí tháng</a:t>
            </a:r>
            <a:endParaRPr sz="2550" b="1">
              <a:solidFill>
                <a:srgbClr val="0D1B26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33400" y="1181100"/>
            <a:ext cx="1104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4F6270"/>
                </a:solidFill>
              </a:defRPr>
            </a:defPPr>
          </a:lstStyle>
          <a:p>
            <a:pPr>
              <a:defRPr sz="1275" b="0">
                <a:solidFill>
                  <a:srgbClr val="4F6270"/>
                </a:solidFill>
              </a:defRPr>
            </a:pPr>
            <a:r>
              <a:rPr sz="1275" b="0">
                <a:solidFill>
                  <a:srgbClr val="4F6270"/>
                </a:solidFill>
              </a:rPr>
              <a:t>TOTAL khớp công thức SUM trong Excel; image generation chưa được cộng</a:t>
            </a:r>
            <a:endParaRPr sz="1275" b="0">
              <a:solidFill>
                <a:srgbClr val="4F6270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0953750" y="28575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4F6270"/>
                </a:solidFill>
              </a:defRPr>
            </a:defPPr>
          </a:lstStyle>
          <a:p>
            <a:pPr>
              <a:defRPr sz="975" b="1">
                <a:solidFill>
                  <a:srgbClr val="4F6270"/>
                </a:solidFill>
              </a:defRPr>
            </a:pPr>
            <a:r>
              <a:rPr sz="975" b="1">
                <a:solidFill>
                  <a:srgbClr val="4F6270"/>
                </a:solidFill>
              </a:rPr>
              <a:t>11 / 12</a:t>
            </a:r>
            <a:endParaRPr sz="975" b="1">
              <a:solidFill>
                <a:srgbClr val="4F6270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047750" y="2095500"/>
            <a:ext cx="66675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D1B26"/>
                </a:solidFill>
              </a:defRPr>
            </a:defPPr>
          </a:lstStyle>
          <a:p>
            <a:pPr>
              <a:defRPr sz="1725" b="1">
                <a:solidFill>
                  <a:srgbClr val="0D1B26"/>
                </a:solidFill>
              </a:defRPr>
            </a:pPr>
            <a:r>
              <a:rPr sz="1725" b="1">
                <a:solidFill>
                  <a:srgbClr val="0D1B26"/>
                </a:solidFill>
              </a:rPr>
              <a:t>LLM serving                       $5,452.37</a:t>
            </a:r>
            <a:endParaRPr sz="1725" b="1">
              <a:solidFill>
                <a:srgbClr val="0D1B26"/>
              </a:solidFill>
            </a:endParaRPr>
          </a:p>
          <a:p>
            <a:pPr>
              <a:defRPr sz="1725" b="1">
                <a:solidFill>
                  <a:srgbClr val="0D1B26"/>
                </a:solidFill>
              </a:defRPr>
            </a:pPr>
            <a:r>
              <a:rPr sz="1725" b="1">
                <a:solidFill>
                  <a:srgbClr val="0D1B26"/>
                </a:solidFill>
              </a:rPr>
              <a:t>Tú: security/sandbox/ops          $2,321.63</a:t>
            </a:r>
            <a:endParaRPr sz="1725" b="1">
              <a:solidFill>
                <a:srgbClr val="0D1B26"/>
              </a:solidFill>
            </a:endParaRPr>
          </a:p>
          <a:p>
            <a:pPr>
              <a:defRPr sz="1725" b="1">
                <a:solidFill>
                  <a:srgbClr val="0D1B26"/>
                </a:solidFill>
              </a:defRPr>
            </a:pPr>
            <a:r>
              <a:rPr sz="1725" b="1">
                <a:solidFill>
                  <a:srgbClr val="0D1B26"/>
                </a:solidFill>
              </a:rPr>
              <a:t>Thành: data/cloud/DR              $1,436.46</a:t>
            </a:r>
            <a:endParaRPr sz="1725" b="1">
              <a:solidFill>
                <a:srgbClr val="0D1B26"/>
              </a:solidFill>
            </a:endParaRPr>
          </a:p>
          <a:p>
            <a:pPr>
              <a:defRPr sz="1725" b="1">
                <a:solidFill>
                  <a:srgbClr val="0D1B26"/>
                </a:solidFill>
              </a:defRPr>
            </a:pPr>
            <a:r>
              <a:rPr sz="1725" b="1">
                <a:solidFill>
                  <a:srgbClr val="0D1B26"/>
                </a:solidFill>
              </a:rPr>
              <a:t>Contingency 10%                   $924.94</a:t>
            </a:r>
            <a:endParaRPr sz="1725" b="1">
              <a:solidFill>
                <a:srgbClr val="0D1B26"/>
              </a:solidFill>
            </a:endParaRPr>
          </a:p>
          <a:p>
            <a:pPr>
              <a:defRPr sz="1725" b="1">
                <a:solidFill>
                  <a:srgbClr val="0D1B26"/>
                </a:solidFill>
              </a:defRPr>
            </a:pPr>
            <a:r>
              <a:rPr sz="1725" b="1">
                <a:solidFill>
                  <a:srgbClr val="0D1B26"/>
                </a:solidFill>
              </a:rPr>
              <a:t>Embedding + gateway + licenses    $38.96</a:t>
            </a:r>
            <a:endParaRPr sz="1725" b="1">
              <a:solidFill>
                <a:srgbClr val="0D1B26"/>
              </a:solidFill>
            </a:endParaRPr>
          </a:p>
          <a:p>
            <a:pPr>
              <a:defRPr sz="1725" b="1">
                <a:solidFill>
                  <a:srgbClr val="0D1B26"/>
                </a:solidFill>
              </a:defRPr>
            </a:pPr>
            <a:r>
              <a:rPr sz="1725" b="1">
                <a:solidFill>
                  <a:srgbClr val="0D1B26"/>
                </a:solidFill>
              </a:rPr>
              <a:t>Ops labor                         excluded</a:t>
            </a:r>
            <a:endParaRPr sz="1725" b="1">
              <a:solidFill>
                <a:srgbClr val="0D1B26"/>
              </a:solidFill>
            </a:endParaRPr>
          </a:p>
          <a:p>
            <a:pPr>
              <a:defRPr sz="1725" b="1">
                <a:solidFill>
                  <a:srgbClr val="0D1B26"/>
                </a:solidFill>
              </a:defRPr>
            </a:pPr>
            <a:r>
              <a:rPr sz="1725" b="1">
                <a:solidFill>
                  <a:srgbClr val="0D1B26"/>
                </a:solidFill>
              </a:rPr>
              <a:t>────────────────────────────────────────</a:t>
            </a:r>
            <a:endParaRPr sz="1725" b="1">
              <a:solidFill>
                <a:srgbClr val="0D1B26"/>
              </a:solidFill>
            </a:endParaRPr>
          </a:p>
          <a:p>
            <a:pPr>
              <a:defRPr sz="1725" b="1">
                <a:solidFill>
                  <a:srgbClr val="0D1B26"/>
                </a:solidFill>
              </a:defRPr>
            </a:pPr>
            <a:r>
              <a:rPr sz="1725" b="1">
                <a:solidFill>
                  <a:srgbClr val="0D1B26"/>
                </a:solidFill>
              </a:rPr>
              <a:t>TOTAL                             $10,174.36</a:t>
            </a:r>
            <a:endParaRPr sz="1725" b="1">
              <a:solidFill>
                <a:srgbClr val="0D1B26"/>
              </a:solidFill>
            </a:endParaRPr>
          </a:p>
          <a:p>
            <a:endParaRPr sz="1725"/>
          </a:p>
          <a:p>
            <a:pPr>
              <a:defRPr sz="1725" b="1">
                <a:solidFill>
                  <a:srgbClr val="0D1B26"/>
                </a:solidFill>
              </a:defRPr>
            </a:pPr>
            <a:r>
              <a:rPr sz="1725" b="1">
                <a:solidFill>
                  <a:srgbClr val="0D1B26"/>
                </a:solidFill>
              </a:rPr>
              <a:t>$5.09 / DAU / month</a:t>
            </a:r>
            <a:endParaRPr sz="1725" b="1">
              <a:solidFill>
                <a:srgbClr val="0D1B26"/>
              </a:solidFill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8191500" y="2238375"/>
            <a:ext cx="2476500" cy="1000125"/>
          </a:xfrm>
          <a:prstGeom prst="roundRect">
            <a:avLst>
              <a:gd name="adj" fmla="val 7619"/>
            </a:avLst>
          </a:prstGeom>
          <a:solidFill>
            <a:srgbClr val="D9EDF6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650" b="1">
                <a:solidFill>
                  <a:srgbClr val="0D1B26"/>
                </a:solidFill>
              </a:defRPr>
            </a:defPPr>
          </a:lstStyle>
          <a:p>
            <a:pPr>
              <a:defRPr sz="1650" b="1">
                <a:solidFill>
                  <a:srgbClr val="0D1B26"/>
                </a:solidFill>
              </a:defRPr>
            </a:pPr>
            <a:r>
              <a:rPr sz="1650" b="1">
                <a:solidFill>
                  <a:srgbClr val="0D1B26"/>
                </a:solidFill>
              </a:rPr>
              <a:t>Priced subtotal</a:t>
            </a:r>
            <a:endParaRPr sz="1650" b="1">
              <a:solidFill>
                <a:srgbClr val="0D1B26"/>
              </a:solidFill>
            </a:endParaRPr>
          </a:p>
          <a:p>
            <a:pPr>
              <a:defRPr sz="1650" b="1">
                <a:solidFill>
                  <a:srgbClr val="0D1B26"/>
                </a:solidFill>
              </a:defRPr>
            </a:pPr>
            <a:r>
              <a:rPr sz="1650" b="1">
                <a:solidFill>
                  <a:srgbClr val="0D1B26"/>
                </a:solidFill>
              </a:rPr>
              <a:t>$9,249.42</a:t>
            </a:r>
            <a:endParaRPr sz="1650" b="1">
              <a:solidFill>
                <a:srgbClr val="0D1B26"/>
              </a:solidFill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8191500" y="3524250"/>
            <a:ext cx="247650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650" b="1">
                <a:solidFill>
                  <a:srgbClr val="0D1B26"/>
                </a:solidFill>
              </a:defRPr>
            </a:defPPr>
          </a:lstStyle>
          <a:p>
            <a:pPr>
              <a:defRPr sz="1650" b="1">
                <a:solidFill>
                  <a:srgbClr val="0D1B26"/>
                </a:solidFill>
              </a:defRPr>
            </a:pPr>
            <a:r>
              <a:rPr sz="1650" b="1">
                <a:solidFill>
                  <a:srgbClr val="0D1B26"/>
                </a:solidFill>
              </a:rPr>
              <a:t>Contingency</a:t>
            </a:r>
            <a:endParaRPr sz="1650" b="1">
              <a:solidFill>
                <a:srgbClr val="0D1B26"/>
              </a:solidFill>
            </a:endParaRPr>
          </a:p>
          <a:p>
            <a:pPr>
              <a:defRPr sz="1650" b="1">
                <a:solidFill>
                  <a:srgbClr val="0D1B26"/>
                </a:solidFill>
              </a:defRPr>
            </a:pPr>
            <a:r>
              <a:rPr sz="1650" b="1">
                <a:solidFill>
                  <a:srgbClr val="0D1B26"/>
                </a:solidFill>
              </a:rPr>
              <a:t>$924.94</a:t>
            </a:r>
            <a:endParaRPr sz="1650" b="1">
              <a:solidFill>
                <a:srgbClr val="0D1B26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7810500" y="5048250"/>
            <a:ext cx="3333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B91C1C"/>
                </a:solidFill>
              </a:defRPr>
            </a:defPPr>
          </a:lstStyle>
          <a:p>
            <a:pPr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Image generation: 90k volume remains a blocker; Nova Canvas EOL means no unsupported $0.04/image charge is included.</a:t>
            </a:r>
            <a:endParaRPr sz="1350" b="1">
              <a:solidFill>
                <a:srgbClr val="B91C1C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533400" y="6477000"/>
            <a:ext cx="1104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4F6270"/>
                </a:solidFill>
              </a:defRPr>
            </a:defPPr>
          </a:lstStyle>
          <a:p>
            <a:pPr>
              <a:defRPr sz="900" b="0">
                <a:solidFill>
                  <a:srgbClr val="4F6270"/>
                </a:solidFill>
              </a:defRPr>
            </a:pPr>
            <a:r>
              <a:rPr sz="900" b="0">
                <a:solidFill>
                  <a:srgbClr val="4F6270"/>
                </a:solidFill>
              </a:rPr>
              <a:t>AWS ap-southeast-1 · 2 AZ · USD/tháng chưa VAT</a:t>
            </a:r>
            <a:endParaRPr sz="900" b="0">
              <a:solidFill>
                <a:srgbClr val="4F627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Rectangle 10"/>
          <p:cNvSpPr>
            <a:spLocks noGrp="1"/>
          </p:cNvSpPr>
          <p:nvPr/>
        </p:nvSpPr>
        <p:spPr>
          <a:xfrm>
            <a:off x="533400" y="2857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0B6E99"/>
                </a:solidFill>
              </a:defRPr>
            </a:defPPr>
          </a:lstStyle>
          <a:p>
            <a:pPr>
              <a:defRPr sz="975" b="1">
                <a:solidFill>
                  <a:srgbClr val="0B6E99"/>
                </a:solidFill>
              </a:defRPr>
            </a:pPr>
            <a:r>
              <a:rPr sz="975" b="1">
                <a:solidFill>
                  <a:srgbClr val="0B6E99"/>
                </a:solidFill>
              </a:rPr>
              <a:t>VBOT WORKPLACE · G03</a:t>
            </a:r>
            <a:endParaRPr sz="975" b="1">
              <a:solidFill>
                <a:srgbClr val="0B6E99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33400" y="6477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0D1B26"/>
                </a:solidFill>
              </a:defRPr>
            </a:defPPr>
          </a:lstStyle>
          <a:p>
            <a:pPr>
              <a:defRPr sz="2550" b="1">
                <a:solidFill>
                  <a:srgbClr val="0D1B26"/>
                </a:solidFill>
              </a:defRPr>
            </a:pPr>
            <a:r>
              <a:rPr sz="2550" b="1">
                <a:solidFill>
                  <a:srgbClr val="0D1B26"/>
                </a:solidFill>
              </a:rPr>
              <a:t>Rủi ro, giới hạn kiểm chứng và mở rộng</a:t>
            </a:r>
            <a:endParaRPr sz="2550" b="1">
              <a:solidFill>
                <a:srgbClr val="0D1B26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533400" y="1181100"/>
            <a:ext cx="1104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4F6270"/>
                </a:solidFill>
              </a:defRPr>
            </a:defPPr>
          </a:lstStyle>
          <a:p>
            <a:pPr>
              <a:defRPr sz="1275" b="0">
                <a:solidFill>
                  <a:srgbClr val="4F6270"/>
                </a:solidFill>
              </a:defRPr>
            </a:pPr>
            <a:r>
              <a:rPr sz="1275" b="0">
                <a:solidFill>
                  <a:srgbClr val="4F6270"/>
                </a:solidFill>
              </a:rPr>
              <a:t>Nộp được hai file; không biến mục tiêu thiết kế thành kết quả đo</a:t>
            </a:r>
            <a:endParaRPr sz="1275" b="0">
              <a:solidFill>
                <a:srgbClr val="4F6270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0953750" y="28575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4F6270"/>
                </a:solidFill>
              </a:defRPr>
            </a:defPPr>
          </a:lstStyle>
          <a:p>
            <a:pPr>
              <a:defRPr sz="975" b="1">
                <a:solidFill>
                  <a:srgbClr val="4F6270"/>
                </a:solidFill>
              </a:defRPr>
            </a:pPr>
            <a:r>
              <a:rPr sz="975" b="1">
                <a:solidFill>
                  <a:srgbClr val="4F6270"/>
                </a:solidFill>
              </a:rPr>
              <a:t>12 / 12</a:t>
            </a:r>
            <a:endParaRPr sz="975" b="1">
              <a:solidFill>
                <a:srgbClr val="4F6270"/>
              </a:solidFill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533400" y="1952625"/>
            <a:ext cx="5095875" cy="400050"/>
          </a:xfrm>
          <a:prstGeom prst="roundRect">
            <a:avLst>
              <a:gd name="adj" fmla="val 19048"/>
            </a:avLst>
          </a:prstGeom>
          <a:solidFill>
            <a:srgbClr val="D9EDF6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425" b="1">
                <a:solidFill>
                  <a:srgbClr val="0B6E99"/>
                </a:solidFill>
              </a:defRPr>
            </a:defPPr>
          </a:lstStyle>
          <a:p>
            <a:pPr>
              <a:defRPr sz="1425" b="1">
                <a:solidFill>
                  <a:srgbClr val="0B6E99"/>
                </a:solidFill>
              </a:defRPr>
            </a:pPr>
            <a:r>
              <a:rPr sz="1425" b="1">
                <a:solidFill>
                  <a:srgbClr val="0B6E99"/>
                </a:solidFill>
              </a:rPr>
              <a:t>Chưa thể xác minh</a:t>
            </a:r>
            <a:endParaRPr sz="1425" b="1">
              <a:solidFill>
                <a:srgbClr val="0B6E99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2524125"/>
            <a:ext cx="47625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D1B26"/>
                </a:solidFill>
              </a:defRPr>
            </a:defPPr>
          </a:lstStyle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AWS account thực hành bị giới hạn Sydney; Singapore chưa chạy trực tiếp.</a:t>
            </a:r>
            <a:endParaRPr sz="1425" b="0">
              <a:solidFill>
                <a:srgbClr val="0D1B26"/>
              </a:solidFill>
            </a:endParaRPr>
          </a:p>
          <a:p>
            <a:endParaRPr sz="1425"/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H6: chưa có TTFT p95 ≤3s benchmark.</a:t>
            </a:r>
            <a:endParaRPr sz="1425" b="0">
              <a:solidFill>
                <a:srgbClr val="0D1B26"/>
              </a:solidFill>
            </a:endParaRPr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H7: chưa có failover/restore drill.</a:t>
            </a:r>
            <a:endParaRPr sz="1425" b="0">
              <a:solidFill>
                <a:srgbClr val="0D1B26"/>
              </a:solidFill>
            </a:endParaRPr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H8: chưa có ≥95% quality report.</a:t>
            </a:r>
            <a:endParaRPr sz="1425" b="0">
              <a:solidFill>
                <a:srgbClr val="0D1B26"/>
              </a:solidFill>
            </a:endParaRPr>
          </a:p>
          <a:p>
            <a:endParaRPr sz="1425"/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Image production model: blocker.</a:t>
            </a:r>
            <a:endParaRPr sz="1425" b="0">
              <a:solidFill>
                <a:srgbClr val="0D1B26"/>
              </a:solidFill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6096000" y="1952625"/>
            <a:ext cx="5095875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2DCE3"/>
            </a:solidFill>
            <a:prstDash val="solid"/>
          </a:ln>
        </p:spPr>
        <p:txBody>
          <a:bodyPr/>
          <a:lstStyle>
            <a:defPPr>
              <a:defRPr sz="1425" b="1">
                <a:solidFill>
                  <a:srgbClr val="0B6E99"/>
                </a:solidFill>
              </a:defRPr>
            </a:defPPr>
          </a:lstStyle>
          <a:p>
            <a:pPr>
              <a:defRPr sz="1425" b="1">
                <a:solidFill>
                  <a:srgbClr val="0B6E99"/>
                </a:solidFill>
              </a:defRPr>
            </a:pPr>
            <a:r>
              <a:rPr sz="1425" b="1">
                <a:solidFill>
                  <a:srgbClr val="0B6E99"/>
                </a:solidFill>
              </a:rPr>
              <a:t>Khi lên 4.000 DAU</a:t>
            </a:r>
            <a:endParaRPr sz="1425" b="1">
              <a:solidFill>
                <a:srgbClr val="0B6E99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248400" y="2524125"/>
            <a:ext cx="47625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D1B26"/>
                </a:solidFill>
              </a:defRPr>
            </a:defPPr>
          </a:lstStyle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Requests, calls, tokens, storage, WAF/egress và guardrail text units tăng gần tuyến tính.</a:t>
            </a:r>
            <a:endParaRPr sz="1425" b="0">
              <a:solidFill>
                <a:srgbClr val="0D1B26"/>
              </a:solidFill>
            </a:endParaRPr>
          </a:p>
          <a:p>
            <a:endParaRPr sz="1425"/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Review quota Fargate ≥96 vCPU, DB tier, queue, log budget.</a:t>
            </a:r>
            <a:endParaRPr sz="1425" b="0">
              <a:solidFill>
                <a:srgbClr val="0D1B26"/>
              </a:solidFill>
            </a:endParaRPr>
          </a:p>
          <a:p>
            <a:endParaRPr sz="1425"/>
          </a:p>
          <a:p>
            <a:pPr>
              <a:defRPr sz="1425" b="0">
                <a:solidFill>
                  <a:srgbClr val="0D1B26"/>
                </a:solidFill>
              </a:defRPr>
            </a:pPr>
            <a:r>
              <a:rPr sz="1425" b="0">
                <a:solidFill>
                  <a:srgbClr val="0D1B26"/>
                </a:solidFill>
              </a:rPr>
              <a:t>Rerun sizing.py + cost workbook; re-evaluate API/GPU only with measured throughput.</a:t>
            </a:r>
            <a:endParaRPr sz="1425" b="0">
              <a:solidFill>
                <a:srgbClr val="0D1B26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533400" y="5953125"/>
            <a:ext cx="1104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B45309"/>
                </a:solidFill>
              </a:defRPr>
            </a:defPPr>
          </a:lstStyle>
          <a:p>
            <a:pPr>
              <a:defRPr sz="1500" b="1">
                <a:solidFill>
                  <a:srgbClr val="B45309"/>
                </a:solidFill>
              </a:defRPr>
            </a:pPr>
            <a:r>
              <a:rPr sz="1500" b="1">
                <a:solidFill>
                  <a:srgbClr val="B45309"/>
                </a:solidFill>
              </a:rPr>
              <a:t>Kết luận: architecture proposed for Singapore · cost working estimate · open verification items are explicitly listed.</a:t>
            </a:r>
            <a:endParaRPr sz="1500" b="1">
              <a:solidFill>
                <a:srgbClr val="B45309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533400" y="6477000"/>
            <a:ext cx="1104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4F6270"/>
                </a:solidFill>
              </a:defRPr>
            </a:defPPr>
          </a:lstStyle>
          <a:p>
            <a:pPr>
              <a:defRPr sz="900" b="0">
                <a:solidFill>
                  <a:srgbClr val="4F6270"/>
                </a:solidFill>
              </a:defRPr>
            </a:pPr>
            <a:r>
              <a:rPr sz="900" b="0">
                <a:solidFill>
                  <a:srgbClr val="4F6270"/>
                </a:solidFill>
              </a:rPr>
              <a:t>G03 · 12 slides · 7-minute presentation</a:t>
            </a:r>
            <a:endParaRPr sz="900" b="0">
              <a:solidFill>
                <a:srgbClr val="4F627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7605</Words>
  <Application>WPS Sheets</Application>
  <PresentationFormat>Converted Presentation</PresentationFormat>
  <Paragraphs>431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Aptos</vt:lpstr>
      <vt:lpstr>Helvetica Neue</vt:lpstr>
      <vt:lpstr>Microsoft YaHei</vt:lpstr>
      <vt:lpstr>汉仪旗黑</vt:lpstr>
      <vt:lpstr>Arial Unicode MS</vt:lpstr>
      <vt:lpstr>Calibri</vt:lpstr>
      <vt:lpstr>宋体-简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phucnguyen</cp:lastModifiedBy>
  <cp:revision>1</cp:revision>
  <dcterms:created xsi:type="dcterms:W3CDTF">2026-10-16T05:52:04Z</dcterms:created>
  <dcterms:modified xsi:type="dcterms:W3CDTF">2026-10-16T05:52:04Z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099EE8DC3C6AD20A84BBD16AD9DCA448_42</vt:lpwstr>
  </property>
  <property fmtid="{D5CDD505-2E9C-101B-9397-08002B2CF9AE}" pid="3" name="KSOProductBuildVer">
    <vt:lpwstr>1033-12.1.28496.28496</vt:lpwstr>
  </property>
</Properties>
</file>