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371b5516e54a14" /><Relationship Type="http://schemas.openxmlformats.org/officeDocument/2006/relationships/extended-properties" Target="/docProps/app.xml" Id="R04ebdc8b3fb84c2e" /><Relationship Type="http://schemas.openxmlformats.org/officeDocument/2006/relationships/officeDocument" Target="/ppt/presentation.xml" Id="R349ed701630b48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3524bbf7ba4c26"/>
  </p:sldMasterIdLst>
  <p:notesMasterIdLst>
    <p:notesMasterId xmlns:r="http://schemas.openxmlformats.org/officeDocument/2006/relationships" r:id="R58485cda683a4276"/>
  </p:notesMasterIdLst>
  <p:sldIdLst>
    <p:sldId xmlns:r="http://schemas.openxmlformats.org/officeDocument/2006/relationships" id="256" r:id="Rc661eab64f9e49d8"/>
    <p:sldId xmlns:r="http://schemas.openxmlformats.org/officeDocument/2006/relationships" id="257" r:id="R9cc5ca3ab4a0447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2c76e1f56a444b" /><Relationship Type="http://schemas.openxmlformats.org/officeDocument/2006/relationships/slideMaster" Target="/ppt/slideMasters/slideMaster1.xml" Id="Rbe3524bbf7ba4c26" /><Relationship Type="http://schemas.openxmlformats.org/officeDocument/2006/relationships/notesMaster" Target="/ppt/notesMasters/notesMaster1.xml" Id="R58485cda683a4276" /><Relationship Type="http://schemas.openxmlformats.org/officeDocument/2006/relationships/presProps" Target="/ppt/presProps.xml" Id="R24e1ba73056e456a" /><Relationship Type="http://schemas.openxmlformats.org/officeDocument/2006/relationships/tableStyles" Target="/ppt/tableStyles.xml" Id="Rdc30e8d249e34fc1" /><Relationship Type="http://schemas.openxmlformats.org/officeDocument/2006/relationships/slide" Target="/ppt/slides/slide1.xml" Id="Rc661eab64f9e49d8" /><Relationship Type="http://schemas.openxmlformats.org/officeDocument/2006/relationships/slide" Target="/ppt/slides/slide2.xml" Id="R9cc5ca3ab4a044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c60c80f73b45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e5cb253330461a" /><Relationship Type="http://schemas.openxmlformats.org/officeDocument/2006/relationships/notesMaster" Target="/ppt/notesMasters/notesMaster1.xml" Id="Ra2d80499a5c141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d6567248a44a6d" /><Relationship Type="http://schemas.openxmlformats.org/officeDocument/2006/relationships/notesMaster" Target="/ppt/notesMasters/notesMaster1.xml" Id="Rd44c4a9ad7cf47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35b9d4b31d42e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e0f9c679f34d8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e14c7083fc475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af6cc41d2044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d6f6d4a35047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763fe302643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096C2B-4746-4EF7-8453-B10B310A7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25CF3C3-ED8E-45D7-814C-B4D80E5C88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38AA290-C9A7-4B2E-A66B-BB960F145A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AD3753-F200-44CB-A37B-704B20C18C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31A7FA4-4AAD-4A17-8316-17E69A9BFD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33CF53-5105-4749-8E30-A2321AB0C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0F4977C-E6D9-4C33-9CC3-BA25B9097B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9B2E0C8-8CEE-4848-AABC-CC33B35B27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B62295-E93E-4D00-9B8E-4E79F85921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A2DDC66-EC6A-402E-A13C-B3E7B464BF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c04639805543be" /><Relationship Type="http://schemas.openxmlformats.org/officeDocument/2006/relationships/slideLayout" Target="/ppt/slideLayouts/slideLayout1.xml" Id="R9a024e1bfdc8418a" /><Relationship Type="http://schemas.openxmlformats.org/officeDocument/2006/relationships/slideLayout" Target="/ppt/slideLayouts/slideLayout2.xml" Id="Rebe182de5ec644ef" /><Relationship Type="http://schemas.openxmlformats.org/officeDocument/2006/relationships/slideLayout" Target="/ppt/slideLayouts/slideLayout3.xml" Id="R4f96ee9bb2594a73" /><Relationship Type="http://schemas.openxmlformats.org/officeDocument/2006/relationships/slideLayout" Target="/ppt/slideLayouts/slideLayout4.xml" Id="Ra1c29cf24317454e" /><Relationship Type="http://schemas.openxmlformats.org/officeDocument/2006/relationships/slideLayout" Target="/ppt/slideLayouts/slideLayout5.xml" Id="Rbb84e409c4c141f3" /><Relationship Type="http://schemas.openxmlformats.org/officeDocument/2006/relationships/slideLayout" Target="/ppt/slideLayouts/slideLayout6.xml" Id="R3b8fd3b7c36c43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024e1bfdc8418a"/>
    <p:sldLayoutId xmlns:r="http://schemas.openxmlformats.org/officeDocument/2006/relationships" id="2147483650" r:id="Rebe182de5ec644ef"/>
    <p:sldLayoutId xmlns:r="http://schemas.openxmlformats.org/officeDocument/2006/relationships" id="2147483651" r:id="R4f96ee9bb2594a73"/>
    <p:sldLayoutId xmlns:r="http://schemas.openxmlformats.org/officeDocument/2006/relationships" id="2147483652" r:id="Ra1c29cf24317454e"/>
    <p:sldLayoutId xmlns:r="http://schemas.openxmlformats.org/officeDocument/2006/relationships" id="2147483653" r:id="Rbb84e409c4c141f3"/>
    <p:sldLayoutId xmlns:r="http://schemas.openxmlformats.org/officeDocument/2006/relationships" id="2147483654" r:id="R3b8fd3b7c36c43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a899b094f04356" /><Relationship Type="http://schemas.openxmlformats.org/officeDocument/2006/relationships/notesSlide" Target="/ppt/notesSlides/notesSlide1.xml" Id="Rea7e178fa7b547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2b079386a4764" /><Relationship Type="http://schemas.openxmlformats.org/officeDocument/2006/relationships/notesSlide" Target="/ppt/notesSlides/notesSlide2.xml" Id="Rcf8a635146af4a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C2803-DE97-49F0-BEA9-56F57B25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0A979-F5F6-45DE-9CEC-F2182A9B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Giả định tải và lựa chọn cloud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9CBFB-0B2C-44B6-AE16-925A9A67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F6270"/>
                </a:solidFill>
              </a:defRPr>
            </a:pPr>
            <a:r>
              <a:rPr sz="1425" b="0">
                <a:solidFill>
                  <a:srgbClr val="4F6270"/>
                </a:solidFill>
              </a:rPr>
              <a:t>2.000 DAU · AWS ap-southeast-1 · 2 AZ · chưa VAT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DD2F9-2D2B-470A-9010-6445CAE5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1.76M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request/tháng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A4171-6056-40C5-A7AD-527C6DE0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90750"/>
            <a:ext cx="2381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6.688B input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0.986B output token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2B37E-F0F0-49AE-B6A2-817C1445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18097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6.67 req/s</a:t>
            </a:r>
          </a:p>
          <a:p xmlns:a="http://schemas.openxmlformats.org/drawingml/2006/main">
            <a:pPr>
              <a:defRPr sz="1800" b="1">
                <a:solidFill>
                  <a:srgbClr val="0D1B26"/>
                </a:solidFill>
              </a:defRPr>
            </a:pPr>
            <a:r>
              <a:rPr sz="1800" b="1">
                <a:solidFill>
                  <a:srgbClr val="0D1B26"/>
                </a:solidFill>
              </a:rPr>
              <a:t>đỉnh 3x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34FE84-F522-4C2B-996E-F8F99032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20955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3,333 task-h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sandbox/tháng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C6575-9727-4EF5-9A90-928F4F96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90750"/>
            <a:ext cx="1905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6,000 GB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workspace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5506D-F76D-424A-896E-7DB442C9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Công thức chính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FEB9A-F3BB-4EB0-BFC6-06F36AE6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2,000 × 22 × 40 = 1.76M request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1.76M ÷ 220h ÷ 3,600 = 2.22 req/s; × 3 = 6.67 req/s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400,000 × 30s ÷ 3,600 = 3,333 task-hours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2,000 × 3 GB = 6,000 GB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C623F-7CF8-443F-BF53-DCC0F74F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6E99"/>
                </a:solidFill>
              </a:defRPr>
            </a:pPr>
            <a:r>
              <a:rPr sz="1350" b="1">
                <a:solidFill>
                  <a:srgbClr val="0B6E99"/>
                </a:solidFill>
              </a:rPr>
              <a:t>Lựa chọn chi phí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D5622C-F6DC-4D0B-9386-AE54ADCF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4857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• Bedrock API: không giữ GPU chạy 24/7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• Nova Lite cho Cấp 1–3; Nova Pro cho Cấp 4–5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• Fargate scale theo request; sandbox TTL 30s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• S3 + pgvector trong Aurora để giảm dịch vụ riêng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B9AA9-3CEC-4C22-80C5-62535687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B45309"/>
                </a:solidFill>
              </a:defRPr>
            </a:pPr>
            <a:r>
              <a:rPr sz="1650" b="1">
                <a:solidFill>
                  <a:srgbClr val="B45309"/>
                </a:solidFill>
              </a:rPr>
              <a:t>TOTAL 11,674.74 USD/tháng · 5.84 USD/DAU/tháng</a:t>
            </a:r>
          </a:p>
        </p:txBody>
      </p:sp>
    </p:spTree>
    <p:extLst>
      <p:ext uri="{BB962C8B-B14F-4D97-AF65-F5344CB8AC3E}">
        <p14:creationId xmlns:p14="http://schemas.microsoft.com/office/powerpoint/2010/main" val="20075308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202157-3B17-4DD7-B57A-05B371FC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B6E99"/>
                </a:solidFill>
              </a:defRPr>
            </a:pPr>
            <a:r>
              <a:rPr sz="1050" b="1">
                <a:solidFill>
                  <a:srgbClr val="0B6E99"/>
                </a:solidFill>
              </a:rPr>
              <a:t>VBOT WORKPLACE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38FE2-D2F9-455A-9F0D-96EEDCAC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850" b="1">
                <a:solidFill>
                  <a:srgbClr val="0D1B26"/>
                </a:solidFill>
              </a:defRPr>
            </a:pPr>
            <a:r>
              <a:rPr sz="2850" b="1">
                <a:solidFill>
                  <a:srgbClr val="0D1B26"/>
                </a:solidFill>
              </a:rPr>
              <a:t>Kiến trúc và luồng một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E30F9-5B41-498A-A5F8-15AA2EFB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4F6270"/>
                </a:solidFill>
              </a:defRPr>
            </a:pPr>
            <a:r>
              <a:rPr sz="1425" b="0">
                <a:solidFill>
                  <a:srgbClr val="4F6270"/>
                </a:solidFill>
              </a:rPr>
              <a:t>H1–H8 được gắn vào node, dữ liệu và guardrail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81BD4-1F4F-4BF0-8545-154D96C3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428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User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SSO/MFA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authn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C5306-3C21-496F-8C13-5489E90A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335148-B5D1-48DA-81D3-757DB10C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WAF + ALB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network / load_balancer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3D0556-35E4-4B3E-ADF8-1161947D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85832-069B-41F7-A7DE-CD70E82A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86000"/>
            <a:ext cx="1905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Fargate app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compute / gateway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07458-CCBE-4BDB-8B11-7A2C0C48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F87FA-CE38-41D3-B964-0DF66C32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86000"/>
            <a:ext cx="1809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Bedrock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llm + embedding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BC42F-D7A7-4124-8AF5-24F3DE3F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717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45901-932B-478F-9EA8-16C19E21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86000"/>
            <a:ext cx="1619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stream token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response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DBAB61-6974-4C4B-A8BB-B9C588BD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Aurora + pgvector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database / vector_db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ACL filter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1C9B6D-5133-42D8-ACEC-B856827C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S3 workspace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object_storage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per-user KMS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781F2-63FD-4101-B650-88E2E3D6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8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Fargate 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sandbox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no egress · TTL 30s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25A9A-6E99-4120-B114-5A9F4654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00500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OAuth connectors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secrets_kms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queue / cache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923843-8159-4599-8DCD-B67D6116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Fargate app gọi dữ liệu theo ACL; sandbox trả result; user xác nhận hành động ghi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41B212-6892-4DFD-BE52-3D882F3C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H2/H3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129EF-3D8C-4D10-A0B8-E9D4B39F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8674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0D1B26"/>
                </a:solidFill>
              </a:defRPr>
            </a:pPr>
            <a:r>
              <a:rPr sz="1200" b="0">
                <a:solidFill>
                  <a:srgbClr val="0D1B26"/>
                </a:solidFill>
              </a:rPr>
              <a:t>SSO · RBAC/ABAC · workspace tách user · OAuth scope tối thiểu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0C02F-C458-4170-BF31-2D46412C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67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5803D"/>
                </a:solidFill>
              </a:defRPr>
            </a:pPr>
            <a:r>
              <a:rPr sz="1200" b="1">
                <a:solidFill>
                  <a:srgbClr val="15803D"/>
                </a:solidFill>
              </a:rPr>
              <a:t>H4/H5/H7/H8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F54897-9BD6-4A40-B1BE-F1839526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867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0D1B26"/>
                </a:solidFill>
              </a:defRPr>
            </a:pPr>
            <a:r>
              <a:rPr sz="1200" b="0">
                <a:solidFill>
                  <a:srgbClr val="0D1B26"/>
                </a:solidFill>
              </a:rPr>
              <a:t>DLP · audit 12 tháng · multi-AZ · backup RPO 1h · quota và eval gate</a:t>
            </a:r>
          </a:p>
        </p:txBody>
      </p:sp>
    </p:spTree>
    <p:extLst>
      <p:ext uri="{BB962C8B-B14F-4D97-AF65-F5344CB8AC3E}">
        <p14:creationId xmlns:p14="http://schemas.microsoft.com/office/powerpoint/2010/main" val="17337369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2026-10-16T03:02:50.3130000Z</dcterms:created>
  <dcterms:modified xsi:type="dcterms:W3CDTF">2026-10-16T03:02:50.3130000Z</dcterms:modified>
</coreProperties>
</file>