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3de97cd2fe4d73" /><Relationship Type="http://schemas.openxmlformats.org/officeDocument/2006/relationships/extended-properties" Target="/docProps/app.xml" Id="Rfeb78532395046ee" /><Relationship Type="http://schemas.openxmlformats.org/officeDocument/2006/relationships/officeDocument" Target="/ppt/presentation.xml" Id="Reb84ee8bb43348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6dcbcbe65d4986"/>
  </p:sldMasterIdLst>
  <p:notesMasterIdLst>
    <p:notesMasterId xmlns:r="http://schemas.openxmlformats.org/officeDocument/2006/relationships" r:id="Rf31ed27a2fae4ae4"/>
  </p:notesMasterIdLst>
  <p:sldIdLst>
    <p:sldId xmlns:r="http://schemas.openxmlformats.org/officeDocument/2006/relationships" id="256" r:id="R77e8c457ac384b29"/>
    <p:sldId xmlns:r="http://schemas.openxmlformats.org/officeDocument/2006/relationships" id="257" r:id="Rf85a221e7cb246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e67783f9a84bbe" /><Relationship Type="http://schemas.openxmlformats.org/officeDocument/2006/relationships/slideMaster" Target="/ppt/slideMasters/slideMaster1.xml" Id="R146dcbcbe65d4986" /><Relationship Type="http://schemas.openxmlformats.org/officeDocument/2006/relationships/notesMaster" Target="/ppt/notesMasters/notesMaster1.xml" Id="Rf31ed27a2fae4ae4" /><Relationship Type="http://schemas.openxmlformats.org/officeDocument/2006/relationships/presProps" Target="/ppt/presProps.xml" Id="Rb607d914d1bc480a" /><Relationship Type="http://schemas.openxmlformats.org/officeDocument/2006/relationships/tableStyles" Target="/ppt/tableStyles.xml" Id="R6238304ce1674933" /><Relationship Type="http://schemas.openxmlformats.org/officeDocument/2006/relationships/slide" Target="/ppt/slides/slide1.xml" Id="R77e8c457ac384b29" /><Relationship Type="http://schemas.openxmlformats.org/officeDocument/2006/relationships/slide" Target="/ppt/slides/slide2.xml" Id="Rf85a221e7cb246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4edda449724d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8d4b7644c749c6" /><Relationship Type="http://schemas.openxmlformats.org/officeDocument/2006/relationships/notesMaster" Target="/ppt/notesMasters/notesMaster1.xml" Id="Rec281c303ad84b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bd70b053b549da" /><Relationship Type="http://schemas.openxmlformats.org/officeDocument/2006/relationships/notesMaster" Target="/ppt/notesMasters/notesMaster1.xml" Id="R644468e8314348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493532888341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7490cac9045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542a82f894e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e25c6caad44f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f2088bed2344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09f005a70d4a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CF4E87-FD27-44D5-BCC7-6DC1704648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43AB708-CB94-4F4D-9094-E8D4D54FDD9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020810-0C64-4F89-9FAA-905B5982B4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3E0C1B-E5CC-4595-9591-72470FDA0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A23D25-E0C1-409B-9039-55D962A80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4258F05-AADD-4CA8-B633-CF55E1B395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8B85E6-FA4F-49B8-A511-97E7A51904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7378C09-17FB-4DB0-9381-F1CD717491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BD5826-27FA-4C7D-8DBD-011812D548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0C3138-993B-4008-A8E5-D6E5669D68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39f0d837b84fbe" /><Relationship Type="http://schemas.openxmlformats.org/officeDocument/2006/relationships/slideLayout" Target="/ppt/slideLayouts/slideLayout1.xml" Id="R83dd212d813548a8" /><Relationship Type="http://schemas.openxmlformats.org/officeDocument/2006/relationships/slideLayout" Target="/ppt/slideLayouts/slideLayout2.xml" Id="R7eb8ac48aeda4bef" /><Relationship Type="http://schemas.openxmlformats.org/officeDocument/2006/relationships/slideLayout" Target="/ppt/slideLayouts/slideLayout3.xml" Id="Ra17e80568a514106" /><Relationship Type="http://schemas.openxmlformats.org/officeDocument/2006/relationships/slideLayout" Target="/ppt/slideLayouts/slideLayout4.xml" Id="R5633715b3d624449" /><Relationship Type="http://schemas.openxmlformats.org/officeDocument/2006/relationships/slideLayout" Target="/ppt/slideLayouts/slideLayout5.xml" Id="Rf7ce13f67abb462e" /><Relationship Type="http://schemas.openxmlformats.org/officeDocument/2006/relationships/slideLayout" Target="/ppt/slideLayouts/slideLayout6.xml" Id="R60fe6dea5e554f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dd212d813548a8"/>
    <p:sldLayoutId xmlns:r="http://schemas.openxmlformats.org/officeDocument/2006/relationships" id="2147483650" r:id="R7eb8ac48aeda4bef"/>
    <p:sldLayoutId xmlns:r="http://schemas.openxmlformats.org/officeDocument/2006/relationships" id="2147483651" r:id="Ra17e80568a514106"/>
    <p:sldLayoutId xmlns:r="http://schemas.openxmlformats.org/officeDocument/2006/relationships" id="2147483652" r:id="R5633715b3d624449"/>
    <p:sldLayoutId xmlns:r="http://schemas.openxmlformats.org/officeDocument/2006/relationships" id="2147483653" r:id="Rf7ce13f67abb462e"/>
    <p:sldLayoutId xmlns:r="http://schemas.openxmlformats.org/officeDocument/2006/relationships" id="2147483654" r:id="R60fe6dea5e554f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b66e07dcc424d" /><Relationship Type="http://schemas.openxmlformats.org/officeDocument/2006/relationships/notesSlide" Target="/ppt/notesSlides/notesSlide1.xml" Id="R720f8225ffaa4c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367e41707e4329" /><Relationship Type="http://schemas.openxmlformats.org/officeDocument/2006/relationships/notesSlide" Target="/ppt/notesSlides/notesSlide2.xml" Id="R774f17c880274b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146625-4FA7-4DF3-8652-9B4B8232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355F-D763-4A64-B316-051A260E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Giả định tải và lựa chọn cloud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F6852-A669-401B-B623-84BBDE79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F6270"/>
                </a:solidFill>
              </a:defRPr>
            </a:pPr>
            <a:r>
              <a:rPr sz="1425" b="0">
                <a:solidFill>
                  <a:srgbClr val="4F6270"/>
                </a:solidFill>
              </a:rPr>
              <a:t>2.000 DAU · AWS ap-southeast-1 · APAC Geo Cross-Region · chưa VAT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A3AA1-93D0-43C8-AA0B-C3E48606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1.76M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request/tháng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4DFEC-5BD0-4961-9601-7C80B27B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90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6.688B input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0.986B output token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D8513-386C-43EB-893A-E5D1384A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18097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6.67 req/s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đỉnh 3x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2E7F1-1A7B-4C23-AC2B-81BA262E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3,333 task-h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sandbox/tháng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38042-97E5-44F1-9E7F-F36FC90C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90750"/>
            <a:ext cx="1905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6,100 GB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workspace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BEEF2-5E45-4D62-B750-C69F5C71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Công thức chính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00CFE5-B552-4DD5-AF3E-0617D11F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2,000 × 22 × 40 = 1.76M request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1.76M ÷ 220h ÷ 3,600 = 2.22 req/s; × 3 = 6.67 req/s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400,000 × 30s ÷ 3,600 = 3,333 task-hours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2,000 × 3 GB + 100 GB staging = 6,100 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B9935-B9CF-4958-9D65-0A63FFE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Lựa chọn chi phí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653B82-2149-4B5E-AD4D-C9269955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• Bedrock API qua PrivateLink; không giữ GPU chạy 24/7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• APAC Geo: Lite C1–3; Pro C4–5; agent steps C3=2, C4=3, C5=4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• Titan Image G1 v2 không dùng: legacy/EOL; Nova sinh SVG/HTML render sandbox</a:t>
            </a:r>
          </a:p>
          <a:p xmlns:a="http://schemas.openxmlformats.org/drawingml/2006/main">
            <a:pPr>
              <a:defRPr sz="1350" b="0">
                <a:solidFill>
                  <a:srgbClr val="0D1B26"/>
                </a:solidFill>
              </a:defRPr>
            </a:pPr>
            <a:r>
              <a:rPr sz="1350" b="0">
                <a:solidFill>
                  <a:srgbClr val="0D1B26"/>
                </a:solidFill>
              </a:rPr>
              <a:t>• Titan Embeddings V2 + S3 + pgvector trong Aurora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31B59-3925-493C-9841-E8AC79A2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B45309"/>
                </a:solidFill>
              </a:defRPr>
            </a:pPr>
            <a:r>
              <a:rPr sz="1650" b="1">
                <a:solidFill>
                  <a:srgbClr val="B45309"/>
                </a:solidFill>
              </a:rPr>
              <a:t>TOTAL 15,001.24 USD/tháng · 7.50 USD/DAU/tháng</a:t>
            </a:r>
          </a:p>
        </p:txBody>
      </p:sp>
    </p:spTree>
    <p:extLst>
      <p:ext uri="{BB962C8B-B14F-4D97-AF65-F5344CB8AC3E}">
        <p14:creationId xmlns:p14="http://schemas.microsoft.com/office/powerpoint/2010/main" val="1862336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63A21-D401-44D1-ABD9-494814BF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F76EE-5817-4559-BF50-38D07775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Kiến trúc và luồng một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C589D-D6A5-445D-970F-2D95058C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4F6270"/>
                </a:solidFill>
              </a:defRPr>
            </a:pPr>
            <a:r>
              <a:rPr sz="1350" b="0">
                <a:solidFill>
                  <a:srgbClr val="4F6270"/>
                </a:solidFill>
              </a:rPr>
              <a:t>H1–H8 được gắn vào node, dữ liệu và guardrail; benchmark là gate trước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E7E0C-71E2-4992-8B75-CDB6B884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428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User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SSO/MFA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authn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9FBD2-EBD5-481C-A628-9C0A5C56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01B4F-A802-4699-BCCB-CE965B46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WAF + ALB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network / load_balancer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018289-DB65-480F-B1D1-1F77D3CB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34371-0202-449A-8FC6-BE3C6750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Fargate app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compute / gateway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525F1-DA79-4F8C-AE73-8AAB0D92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4E5E6-F477-478F-BDDF-7CD18BAB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86000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Bedrock APAC Geo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llm + embedding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39EE3-BC39-4758-A0B0-CD04C38B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3A181-F109-4364-BC45-611E26B8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86000"/>
            <a:ext cx="1619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stream token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response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0528D-7BDB-4687-A794-EA0ADDFE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Aurora + pgvector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database / vector_db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ACL 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BB908-B19A-4B37-AD34-F1580461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S3 workspace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object_storage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per-user KMS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AF825-8D93-4003-B2A3-6275B8B6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8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Fargate 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no egress · TTL 30s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B9538-2719-44CF-9C9A-DA5D407D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OAuth connectors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secrets_kms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queue /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C4A7C-9D4B-45D7-92E8-1DB24904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4F6270"/>
                </a:solidFill>
              </a:defRPr>
            </a:pPr>
            <a:r>
              <a:rPr sz="1200" b="0">
                <a:solidFill>
                  <a:srgbClr val="4F6270"/>
                </a:solidFill>
              </a:rPr>
              <a:t>PrivateLink giữ entry point ở Singapore; APAC Geo có thể xử lý ở destination APAC; sandbox trả result; user xác nhận hành động ghi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78ECA3-0EA5-499E-B947-D325F0A8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H2/H3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42CACE-79DB-44EA-B7BA-B0A525CE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674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0D1B26"/>
                </a:solidFill>
              </a:defRPr>
            </a:pPr>
            <a:r>
              <a:rPr sz="1200" b="0">
                <a:solidFill>
                  <a:srgbClr val="0D1B26"/>
                </a:solidFill>
              </a:rPr>
              <a:t>SSO · RBAC/ABAC · workspace tách user · OAuth scope tối thiểu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A82DC-3331-48D6-BC8D-48CE2959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H4/H5/H7/H8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7F1059-161C-4DBF-8611-40FC475E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867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D1B26"/>
                </a:solidFill>
              </a:defRPr>
            </a:pPr>
            <a:r>
              <a:rPr sz="1125" b="0">
                <a:solidFill>
                  <a:srgbClr val="0D1B26"/>
                </a:solidFill>
              </a:rPr>
              <a:t>DLP · audit 12 tháng · multi-AZ · backup RPO 1h · golden set 100 mẫu</a:t>
            </a:r>
          </a:p>
        </p:txBody>
      </p:sp>
    </p:spTree>
    <p:extLst>
      <p:ext uri="{BB962C8B-B14F-4D97-AF65-F5344CB8AC3E}">
        <p14:creationId xmlns:p14="http://schemas.microsoft.com/office/powerpoint/2010/main" val="14306621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2026-10-16T03:21:13.0750000Z</dcterms:created>
  <dcterms:modified xsi:type="dcterms:W3CDTF">2026-10-16T03:21:13.0750000Z</dcterms:modified>
</coreProperties>
</file>