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48b8da88cd4746" /><Relationship Type="http://schemas.openxmlformats.org/officeDocument/2006/relationships/extended-properties" Target="/docProps/app.xml" Id="R903ebbd55a6b4c40" /><Relationship Type="http://schemas.openxmlformats.org/officeDocument/2006/relationships/officeDocument" Target="/ppt/presentation.xml" Id="Rf73373af133f4f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7dfcc7499a48ea"/>
  </p:sldMasterIdLst>
  <p:notesMasterIdLst>
    <p:notesMasterId xmlns:r="http://schemas.openxmlformats.org/officeDocument/2006/relationships" r:id="Rd7c3b2caacbe4eca"/>
  </p:notesMasterIdLst>
  <p:sldIdLst>
    <p:sldId xmlns:r="http://schemas.openxmlformats.org/officeDocument/2006/relationships" id="256" r:id="Rff89b8584e504031"/>
    <p:sldId xmlns:r="http://schemas.openxmlformats.org/officeDocument/2006/relationships" id="257" r:id="R89b12d72c52747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681f4da84e4e22" /><Relationship Type="http://schemas.openxmlformats.org/officeDocument/2006/relationships/slideMaster" Target="/ppt/slideMasters/slideMaster1.xml" Id="R1b7dfcc7499a48ea" /><Relationship Type="http://schemas.openxmlformats.org/officeDocument/2006/relationships/notesMaster" Target="/ppt/notesMasters/notesMaster1.xml" Id="Rd7c3b2caacbe4eca" /><Relationship Type="http://schemas.openxmlformats.org/officeDocument/2006/relationships/presProps" Target="/ppt/presProps.xml" Id="R1046ed4cd6064913" /><Relationship Type="http://schemas.openxmlformats.org/officeDocument/2006/relationships/tableStyles" Target="/ppt/tableStyles.xml" Id="R656b347ae57d4b0b" /><Relationship Type="http://schemas.openxmlformats.org/officeDocument/2006/relationships/slide" Target="/ppt/slides/slide1.xml" Id="Rff89b8584e504031" /><Relationship Type="http://schemas.openxmlformats.org/officeDocument/2006/relationships/slide" Target="/ppt/slides/slide2.xml" Id="R89b12d72c52747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5c35da2094e40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f343786a0a4476" /><Relationship Type="http://schemas.openxmlformats.org/officeDocument/2006/relationships/notesMaster" Target="/ppt/notesMasters/notesMaster1.xml" Id="R5a51990e8ccf44b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cfd1ea99d045cb" /><Relationship Type="http://schemas.openxmlformats.org/officeDocument/2006/relationships/notesMaster" Target="/ppt/notesMasters/notesMaster1.xml" Id="Ra788d8313b7049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c5ef9e966c46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b17b9ad62e44c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de81e454f34c6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c3bd738545456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ad22ecce14444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c1810e596b4ad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AFB45F-FCEF-48A2-A89C-58729212FF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26DE389-1F1C-4774-8CF3-0CA45283179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B10E169-7045-45CB-B15A-DF76A9E09E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9B1CBA3-8DA3-499E-B727-7A3A459E75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BE799CE-9376-4507-B2E2-7EB0E57FFD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BB183EB-0C9A-4B9A-A5BD-770B25F72E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1BA1992-813C-4B15-8305-C4CB682D84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0D66F67-6B64-4DE6-8A6A-87B8E4F9F63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849459-8D97-43EC-ACF3-1B512D1253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639581F-4FA7-4D42-BAEC-D76CAD71A6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6bdc1e443340d2" /><Relationship Type="http://schemas.openxmlformats.org/officeDocument/2006/relationships/slideLayout" Target="/ppt/slideLayouts/slideLayout1.xml" Id="R792e5c3eb7874f61" /><Relationship Type="http://schemas.openxmlformats.org/officeDocument/2006/relationships/slideLayout" Target="/ppt/slideLayouts/slideLayout2.xml" Id="Ra571631729744285" /><Relationship Type="http://schemas.openxmlformats.org/officeDocument/2006/relationships/slideLayout" Target="/ppt/slideLayouts/slideLayout3.xml" Id="R16a822e6a8444617" /><Relationship Type="http://schemas.openxmlformats.org/officeDocument/2006/relationships/slideLayout" Target="/ppt/slideLayouts/slideLayout4.xml" Id="Rfe1b3070bc784617" /><Relationship Type="http://schemas.openxmlformats.org/officeDocument/2006/relationships/slideLayout" Target="/ppt/slideLayouts/slideLayout5.xml" Id="R3afd3899cad041b8" /><Relationship Type="http://schemas.openxmlformats.org/officeDocument/2006/relationships/slideLayout" Target="/ppt/slideLayouts/slideLayout6.xml" Id="R51e55eeb1bcf47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2e5c3eb7874f61"/>
    <p:sldLayoutId xmlns:r="http://schemas.openxmlformats.org/officeDocument/2006/relationships" id="2147483650" r:id="Ra571631729744285"/>
    <p:sldLayoutId xmlns:r="http://schemas.openxmlformats.org/officeDocument/2006/relationships" id="2147483651" r:id="R16a822e6a8444617"/>
    <p:sldLayoutId xmlns:r="http://schemas.openxmlformats.org/officeDocument/2006/relationships" id="2147483652" r:id="Rfe1b3070bc784617"/>
    <p:sldLayoutId xmlns:r="http://schemas.openxmlformats.org/officeDocument/2006/relationships" id="2147483653" r:id="R3afd3899cad041b8"/>
    <p:sldLayoutId xmlns:r="http://schemas.openxmlformats.org/officeDocument/2006/relationships" id="2147483654" r:id="R51e55eeb1bcf47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d00d1588a1410d" /><Relationship Type="http://schemas.openxmlformats.org/officeDocument/2006/relationships/notesSlide" Target="/ppt/notesSlides/notesSlide1.xml" Id="R47fa14feb69d461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544b4a2f12479f" /><Relationship Type="http://schemas.openxmlformats.org/officeDocument/2006/relationships/notesSlide" Target="/ppt/notesSlides/notesSlide2.xml" Id="R8dc7db86e10b4e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A52AF9-B26A-44BE-8511-553C6282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0B6E99"/>
                </a:solidFill>
              </a:defRPr>
            </a:pPr>
            <a:r>
              <a:rPr sz="1050" b="1">
                <a:solidFill>
                  <a:srgbClr val="0B6E99"/>
                </a:solidFill>
              </a:rPr>
              <a:t>VBOT WORKPLACE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D990E1-0646-4493-96D8-828E5650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0D1B26"/>
                </a:solidFill>
              </a:defRPr>
            </a:pPr>
            <a:r>
              <a:rPr sz="2850" b="1">
                <a:solidFill>
                  <a:srgbClr val="0D1B26"/>
                </a:solidFill>
              </a:rPr>
              <a:t>Giả định tải và lựa chọn cloud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D449E8-8E86-4CD2-91E1-D4C019AB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4F6270"/>
                </a:solidFill>
              </a:defRPr>
            </a:pPr>
            <a:r>
              <a:rPr sz="1425" b="0">
                <a:solidFill>
                  <a:srgbClr val="4F6270"/>
                </a:solidFill>
              </a:rPr>
              <a:t>2.000 DAU · AWS ap-southeast-1 · APAC Geo Cross-Region · chưa VAT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D204A9-1014-467E-93B2-96D146BD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0955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D1B26"/>
                </a:solidFill>
              </a:defRPr>
            </a:pPr>
            <a:r>
              <a:rPr sz="1800" b="1">
                <a:solidFill>
                  <a:srgbClr val="0D1B26"/>
                </a:solidFill>
              </a:rPr>
              <a:t>1.76M</a:t>
            </a:r>
          </a:p>
          <a:p xmlns:a="http://schemas.openxmlformats.org/drawingml/2006/main">
            <a:pPr>
              <a:defRPr sz="1800" b="1">
                <a:solidFill>
                  <a:srgbClr val="0D1B26"/>
                </a:solidFill>
              </a:defRPr>
            </a:pPr>
            <a:r>
              <a:rPr sz="1800" b="1">
                <a:solidFill>
                  <a:srgbClr val="0D1B26"/>
                </a:solidFill>
              </a:rPr>
              <a:t>request/tháng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FB5C9B-F7BD-4EEC-A241-1F5C1CC4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907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9.636B input</a:t>
            </a:r>
          </a:p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1.452B output token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BC8247-E74A-443F-B09A-AA0E8860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18097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D1B26"/>
                </a:solidFill>
              </a:defRPr>
            </a:pPr>
            <a:r>
              <a:rPr sz="1800" b="1">
                <a:solidFill>
                  <a:srgbClr val="0D1B26"/>
                </a:solidFill>
              </a:rPr>
              <a:t>6.67 req/s</a:t>
            </a:r>
          </a:p>
          <a:p xmlns:a="http://schemas.openxmlformats.org/drawingml/2006/main">
            <a:pPr>
              <a:defRPr sz="1800" b="1">
                <a:solidFill>
                  <a:srgbClr val="0D1B26"/>
                </a:solidFill>
              </a:defRPr>
            </a:pPr>
            <a:r>
              <a:rPr sz="1800" b="1">
                <a:solidFill>
                  <a:srgbClr val="0D1B26"/>
                </a:solidFill>
              </a:rPr>
              <a:t>đỉnh 3x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43120B-50F2-4D25-94F1-5DC35875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90750"/>
            <a:ext cx="20955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6,667 billable</a:t>
            </a:r>
          </a:p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task-h/tháng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196011-A2F4-404C-AE99-36ACDB0D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190750"/>
            <a:ext cx="19050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6,100 GB</a:t>
            </a:r>
          </a:p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workspace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C75DF6-C5FA-45E5-8672-9851D40DF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Công thức chính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681458-FF01-4A2B-92DC-9E17EC15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334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0D1B26"/>
                </a:solidFill>
              </a:defRPr>
            </a:pPr>
            <a:r>
              <a:rPr sz="1350" b="0">
                <a:solidFill>
                  <a:srgbClr val="0D1B26"/>
                </a:solidFill>
              </a:rPr>
              <a:t>2,000 × 22 × 40 = 1.76M request</a:t>
            </a:r>
          </a:p>
          <a:p xmlns:a="http://schemas.openxmlformats.org/drawingml/2006/main">
            <a:pPr>
              <a:defRPr sz="1350" b="0">
                <a:solidFill>
                  <a:srgbClr val="0D1B26"/>
                </a:solidFill>
              </a:defRPr>
            </a:pPr>
            <a:r>
              <a:rPr sz="1350" b="0">
                <a:solidFill>
                  <a:srgbClr val="0D1B26"/>
                </a:solidFill>
              </a:rPr>
              <a:t>1.76M ÷ 220h ÷ 3,600 = 2.22 req/s; × 3 = 6.67 req/s</a:t>
            </a:r>
          </a:p>
          <a:p xmlns:a="http://schemas.openxmlformats.org/drawingml/2006/main">
            <a:pPr>
              <a:defRPr sz="1350" b="0">
                <a:solidFill>
                  <a:srgbClr val="0D1B26"/>
                </a:solidFill>
              </a:defRPr>
            </a:pPr>
            <a:r>
              <a:rPr sz="1350" b="0">
                <a:solidFill>
                  <a:srgbClr val="0D1B26"/>
                </a:solidFill>
              </a:rPr>
              <a:t>2.376M model calls; 9.636B input + 1.452B output token</a:t>
            </a:r>
          </a:p>
          <a:p xmlns:a="http://schemas.openxmlformats.org/drawingml/2006/main">
            <a:pPr>
              <a:defRPr sz="1350" b="0">
                <a:solidFill>
                  <a:srgbClr val="0D1B26"/>
                </a:solidFill>
              </a:defRPr>
            </a:pPr>
            <a:r>
              <a:rPr sz="1350" b="0">
                <a:solidFill>
                  <a:srgbClr val="0D1B26"/>
                </a:solidFill>
              </a:rPr>
              <a:t>400,000 × minimum 60s ÷ 3,600 = 6,667 billable task-hours</a:t>
            </a:r>
          </a:p>
          <a:p xmlns:a="http://schemas.openxmlformats.org/drawingml/2006/main">
            <a:pPr>
              <a:defRPr sz="1350" b="0">
                <a:solidFill>
                  <a:srgbClr val="0D1B26"/>
                </a:solidFill>
              </a:defRPr>
            </a:pPr>
            <a:r>
              <a:rPr sz="1350" b="0">
                <a:solidFill>
                  <a:srgbClr val="0D1B26"/>
                </a:solidFill>
              </a:rPr>
              <a:t>2,000 × 3 GB + 100 GB staging = 6,100 GB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9347F7-CCDC-455F-B460-4DAC7C56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Lựa chọn chi phí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AAA766-BC06-42EC-950B-A22E20A3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71950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0D1B26"/>
                </a:solidFill>
              </a:defRPr>
            </a:pPr>
            <a:r>
              <a:rPr sz="1275" b="0">
                <a:solidFill>
                  <a:srgbClr val="0D1B26"/>
                </a:solidFill>
              </a:rPr>
              <a:t>• Bedrock API qua PrivateLink; không giữ GPU chạy 24/7</a:t>
            </a:r>
          </a:p>
          <a:p xmlns:a="http://schemas.openxmlformats.org/drawingml/2006/main">
            <a:pPr>
              <a:defRPr sz="1275" b="0">
                <a:solidFill>
                  <a:srgbClr val="0D1B26"/>
                </a:solidFill>
              </a:defRPr>
            </a:pPr>
            <a:r>
              <a:rPr sz="1275" b="0">
                <a:solidFill>
                  <a:srgbClr val="0D1B26"/>
                </a:solidFill>
              </a:rPr>
              <a:t>• Routing Lite C1–3 / Pro C4–5 là baseline để benchmark; không dùng agent-step để nhân token</a:t>
            </a:r>
          </a:p>
          <a:p xmlns:a="http://schemas.openxmlformats.org/drawingml/2006/main">
            <a:pPr>
              <a:defRPr sz="1275" b="0">
                <a:solidFill>
                  <a:srgbClr val="0D1B26"/>
                </a:solidFill>
              </a:defRPr>
            </a:pPr>
            <a:r>
              <a:rPr sz="1275" b="0">
                <a:solidFill>
                  <a:srgbClr val="0D1B26"/>
                </a:solidFill>
              </a:rPr>
              <a:t>• Titan Image G1 v2 không dùng: legacy/EOL; ảnh SVG/HTML là giả định cần benchmark</a:t>
            </a:r>
          </a:p>
          <a:p xmlns:a="http://schemas.openxmlformats.org/drawingml/2006/main">
            <a:pPr>
              <a:defRPr sz="1275" b="0">
                <a:solidFill>
                  <a:srgbClr val="0D1B26"/>
                </a:solidFill>
              </a:defRPr>
            </a:pPr>
            <a:r>
              <a:rPr sz="1275" b="0">
                <a:solidFill>
                  <a:srgbClr val="0D1B26"/>
                </a:solidFill>
              </a:rPr>
              <a:t>• Titan Embeddings V2 + S3 + pgvector trong Aurora; giá LLM/sandbox PENDING_VERIFICATION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35F3DC-D472-4983-85DD-F83F9B06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B45309"/>
                </a:solidFill>
              </a:defRPr>
            </a:pPr>
            <a:r>
              <a:rPr sz="1575" b="1">
                <a:solidFill>
                  <a:srgbClr val="B45309"/>
                </a:solidFill>
              </a:rPr>
              <a:t>TOTAL working estimate 12,814.26 USD/tháng · 6.41 USD/DAU/tháng</a:t>
            </a:r>
          </a:p>
        </p:txBody>
      </p:sp>
    </p:spTree>
    <p:extLst>
      <p:ext uri="{BB962C8B-B14F-4D97-AF65-F5344CB8AC3E}">
        <p14:creationId xmlns:p14="http://schemas.microsoft.com/office/powerpoint/2010/main" val="16559835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04B27A-F5D6-4ACF-86FC-43D49139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0B6E99"/>
                </a:solidFill>
              </a:defRPr>
            </a:pPr>
            <a:r>
              <a:rPr sz="1050" b="1">
                <a:solidFill>
                  <a:srgbClr val="0B6E99"/>
                </a:solidFill>
              </a:rPr>
              <a:t>VBOT WORKPLACE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2F55DC-ED41-4524-9AA1-2A82D301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0D1B26"/>
                </a:solidFill>
              </a:defRPr>
            </a:pPr>
            <a:r>
              <a:rPr sz="2850" b="1">
                <a:solidFill>
                  <a:srgbClr val="0D1B26"/>
                </a:solidFill>
              </a:rPr>
              <a:t>Kiến trúc và luồng một request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DB42F1-5CB0-4EAD-849B-0DA55531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4F6270"/>
                </a:solidFill>
              </a:defRPr>
            </a:pPr>
            <a:r>
              <a:rPr sz="1350" b="0">
                <a:solidFill>
                  <a:srgbClr val="4F6270"/>
                </a:solidFill>
              </a:rPr>
              <a:t>H1–H8 được gắn vào node, dữ liệu và guardrail; benchmark là gate trước production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9E5A31-5DC4-4FCB-AF26-D95E3A08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428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User</a:t>
            </a:r>
          </a:p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SSO/MFA</a:t>
            </a:r>
          </a:p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authn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6D445F-0195-408B-9082-43216701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717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1F66B7-682E-4790-86CE-46BE58B1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286000"/>
            <a:ext cx="1905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WAF + ALB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network / load_balancer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FD351E-5930-4A7A-BC2D-FA8C9174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717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B64561-CCDB-418F-B9E5-60B4D3CE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286000"/>
            <a:ext cx="1905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Fargate app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compute / gateway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AF3381-F6B1-4ED0-AC21-80D23F12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717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072802-9EBD-4DAB-919C-853A2F08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86000"/>
            <a:ext cx="1809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Bedrock APAC Geo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llm + embedding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B03AC6-57B1-445F-88BD-64DB2801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717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B7AF16-5F15-4F03-AE19-774C57A7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286000"/>
            <a:ext cx="1619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stream token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response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AC17E2-F023-4DF9-A280-7C4CDC6F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00500"/>
            <a:ext cx="200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Aurora + pgvector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database / vector_db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ACL filter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81E8CB-680E-4B80-BEDA-16ABB89A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00500"/>
            <a:ext cx="200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S3 workspace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object_storage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per-user KMS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5BA75-8D8D-4481-B07D-6D09A61F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00500"/>
            <a:ext cx="200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5E8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Fargate sandbox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sandbox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no egress · TTL 30s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7755A7-AF1F-4AFD-AA98-A076F756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00500"/>
            <a:ext cx="200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OAuth connectors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secrets_kms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queue / cache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1A09E7-6571-4CCB-A45A-4E91FB7B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4F6270"/>
                </a:solidFill>
              </a:defRPr>
            </a:pPr>
            <a:r>
              <a:rPr sz="1200" b="0">
                <a:solidFill>
                  <a:srgbClr val="4F6270"/>
                </a:solidFill>
              </a:rPr>
              <a:t>PrivateLink giữ entry point ở Singapore; APAC Geo có thể xử lý ở destination APAC; sandbox trả result; user xác nhận hành động ghi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4001EE-AB90-4D5C-86AB-6BE9086E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15803D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15803D"/>
                </a:solidFill>
              </a:defRPr>
            </a:pPr>
            <a:r>
              <a:rPr sz="1200" b="1">
                <a:solidFill>
                  <a:srgbClr val="15803D"/>
                </a:solidFill>
              </a:rPr>
              <a:t>H2/H3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C0BD50-56CE-49C4-B549-49DCB9D8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8674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0D1B26"/>
                </a:solidFill>
              </a:defRPr>
            </a:pPr>
            <a:r>
              <a:rPr sz="1200" b="0">
                <a:solidFill>
                  <a:srgbClr val="0D1B26"/>
                </a:solidFill>
              </a:rPr>
              <a:t>SSO · RBAC/ABAC · workspace tách user · OAuth scope tối thiểu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02BA38-2A22-4477-9A4C-58C5A343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674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15803D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15803D"/>
                </a:solidFill>
              </a:defRPr>
            </a:pPr>
            <a:r>
              <a:rPr sz="1200" b="1">
                <a:solidFill>
                  <a:srgbClr val="15803D"/>
                </a:solidFill>
              </a:rPr>
              <a:t>H4/H5/H7/H8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BC505C-C981-43FE-A8F2-3E869B8D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867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D1B26"/>
                </a:solidFill>
              </a:defRPr>
            </a:pPr>
            <a:r>
              <a:rPr sz="1125" b="0">
                <a:solidFill>
                  <a:srgbClr val="0D1B26"/>
                </a:solidFill>
              </a:rPr>
              <a:t>DLP · audit 12 tháng · multi-AZ · backup RPO 1h · golden set 100 mẫu</a:t>
            </a:r>
          </a:p>
        </p:txBody>
      </p:sp>
    </p:spTree>
    <p:extLst>
      <p:ext uri="{BB962C8B-B14F-4D97-AF65-F5344CB8AC3E}">
        <p14:creationId xmlns:p14="http://schemas.microsoft.com/office/powerpoint/2010/main" val="5285817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2026-10-16T03:48:40.6020000Z</dcterms:created>
  <dcterms:modified xsi:type="dcterms:W3CDTF">2026-10-16T03:48:40.6020000Z</dcterms:modified>
</coreProperties>
</file>