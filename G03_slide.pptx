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2f92f1df9846e9" /><Relationship Type="http://schemas.openxmlformats.org/officeDocument/2006/relationships/extended-properties" Target="/docProps/app.xml" Id="R4c80a89214554e21" /><Relationship Type="http://schemas.openxmlformats.org/officeDocument/2006/relationships/officeDocument" Target="/ppt/presentation.xml" Id="Rc8de7d8d9bec436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53bdbe7af44806"/>
  </p:sldMasterIdLst>
  <p:notesMasterIdLst>
    <p:notesMasterId xmlns:r="http://schemas.openxmlformats.org/officeDocument/2006/relationships" r:id="Re86abfb373e8404d"/>
  </p:notesMasterIdLst>
  <p:sldIdLst>
    <p:sldId xmlns:r="http://schemas.openxmlformats.org/officeDocument/2006/relationships" id="256" r:id="R94c67e8bb3414af4"/>
    <p:sldId xmlns:r="http://schemas.openxmlformats.org/officeDocument/2006/relationships" id="257" r:id="Re9aad9f8fc264411"/>
    <p:sldId xmlns:r="http://schemas.openxmlformats.org/officeDocument/2006/relationships" id="258" r:id="R7d11d5114f284511"/>
    <p:sldId xmlns:r="http://schemas.openxmlformats.org/officeDocument/2006/relationships" id="259" r:id="Re9d349a51279409a"/>
    <p:sldId xmlns:r="http://schemas.openxmlformats.org/officeDocument/2006/relationships" id="260" r:id="Rf31cfe07e1894616"/>
    <p:sldId xmlns:r="http://schemas.openxmlformats.org/officeDocument/2006/relationships" id="261" r:id="R42423f451eb84703"/>
    <p:sldId xmlns:r="http://schemas.openxmlformats.org/officeDocument/2006/relationships" id="262" r:id="R90fc9f8c841a4ae1"/>
    <p:sldId xmlns:r="http://schemas.openxmlformats.org/officeDocument/2006/relationships" id="263" r:id="Re8a06a00bca24d9f"/>
    <p:sldId xmlns:r="http://schemas.openxmlformats.org/officeDocument/2006/relationships" id="264" r:id="Rca2d928ec5a04701"/>
    <p:sldId xmlns:r="http://schemas.openxmlformats.org/officeDocument/2006/relationships" id="265" r:id="R9c016e4c84f2437f"/>
    <p:sldId xmlns:r="http://schemas.openxmlformats.org/officeDocument/2006/relationships" id="266" r:id="Raa73bca213f14654"/>
    <p:sldId xmlns:r="http://schemas.openxmlformats.org/officeDocument/2006/relationships" id="267" r:id="R58bd6c5bdcd3442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c3a929ad804caf" /><Relationship Type="http://schemas.openxmlformats.org/officeDocument/2006/relationships/slideMaster" Target="/ppt/slideMasters/slideMaster1.xml" Id="R4353bdbe7af44806" /><Relationship Type="http://schemas.openxmlformats.org/officeDocument/2006/relationships/notesMaster" Target="/ppt/notesMasters/notesMaster1.xml" Id="Re86abfb373e8404d" /><Relationship Type="http://schemas.openxmlformats.org/officeDocument/2006/relationships/presProps" Target="/ppt/presProps.xml" Id="Rd963dbe5fc174984" /><Relationship Type="http://schemas.openxmlformats.org/officeDocument/2006/relationships/tableStyles" Target="/ppt/tableStyles.xml" Id="R5aec430cb2874033" /><Relationship Type="http://schemas.openxmlformats.org/officeDocument/2006/relationships/slide" Target="/ppt/slides/slide1.xml" Id="R94c67e8bb3414af4" /><Relationship Type="http://schemas.openxmlformats.org/officeDocument/2006/relationships/slide" Target="/ppt/slides/slide2.xml" Id="Re9aad9f8fc264411" /><Relationship Type="http://schemas.openxmlformats.org/officeDocument/2006/relationships/slide" Target="/ppt/slides/slide3.xml" Id="R7d11d5114f284511" /><Relationship Type="http://schemas.openxmlformats.org/officeDocument/2006/relationships/slide" Target="/ppt/slides/slide4.xml" Id="Re9d349a51279409a" /><Relationship Type="http://schemas.openxmlformats.org/officeDocument/2006/relationships/slide" Target="/ppt/slides/slide5.xml" Id="Rf31cfe07e1894616" /><Relationship Type="http://schemas.openxmlformats.org/officeDocument/2006/relationships/slide" Target="/ppt/slides/slide6.xml" Id="R42423f451eb84703" /><Relationship Type="http://schemas.openxmlformats.org/officeDocument/2006/relationships/slide" Target="/ppt/slides/slide7.xml" Id="R90fc9f8c841a4ae1" /><Relationship Type="http://schemas.openxmlformats.org/officeDocument/2006/relationships/slide" Target="/ppt/slides/slide8.xml" Id="Re8a06a00bca24d9f" /><Relationship Type="http://schemas.openxmlformats.org/officeDocument/2006/relationships/slide" Target="/ppt/slides/slide9.xml" Id="Rca2d928ec5a04701" /><Relationship Type="http://schemas.openxmlformats.org/officeDocument/2006/relationships/slide" Target="/ppt/slides/slide10.xml" Id="R9c016e4c84f2437f" /><Relationship Type="http://schemas.openxmlformats.org/officeDocument/2006/relationships/slide" Target="/ppt/slides/slide11.xml" Id="Raa73bca213f14654" /><Relationship Type="http://schemas.openxmlformats.org/officeDocument/2006/relationships/slide" Target="/ppt/slides/slide12.xml" Id="R58bd6c5bdcd3442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bd0a3dcbce74a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bc925e39e34863" /><Relationship Type="http://schemas.openxmlformats.org/officeDocument/2006/relationships/notesMaster" Target="/ppt/notesMasters/notesMaster1.xml" Id="Rc5dab6d6fa624b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47bedfe90e4155" /><Relationship Type="http://schemas.openxmlformats.org/officeDocument/2006/relationships/notesMaster" Target="/ppt/notesMasters/notesMaster1.xml" Id="Rf482dd6c9b2b41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d8a846f27e4f1d" /><Relationship Type="http://schemas.openxmlformats.org/officeDocument/2006/relationships/notesMaster" Target="/ppt/notesMasters/notesMaster1.xml" Id="Rdecaeb4d06414b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b56ee9a14942ea" /><Relationship Type="http://schemas.openxmlformats.org/officeDocument/2006/relationships/notesMaster" Target="/ppt/notesMasters/notesMaster1.xml" Id="R9e901ebcfaf84ae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c6183ab194849ae" /><Relationship Type="http://schemas.openxmlformats.org/officeDocument/2006/relationships/notesMaster" Target="/ppt/notesMasters/notesMaster1.xml" Id="R78487202c2c34d4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9a2bff221874653" /><Relationship Type="http://schemas.openxmlformats.org/officeDocument/2006/relationships/notesMaster" Target="/ppt/notesMasters/notesMaster1.xml" Id="R409ce9d2c1ea4b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17584ffabe4c2c" /><Relationship Type="http://schemas.openxmlformats.org/officeDocument/2006/relationships/notesMaster" Target="/ppt/notesMasters/notesMaster1.xml" Id="R2646276456c744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f15e4bea1a4694" /><Relationship Type="http://schemas.openxmlformats.org/officeDocument/2006/relationships/notesMaster" Target="/ppt/notesMasters/notesMaster1.xml" Id="R4b50d0a17dd5446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78ca2bedee0450c" /><Relationship Type="http://schemas.openxmlformats.org/officeDocument/2006/relationships/notesMaster" Target="/ppt/notesMasters/notesMaster1.xml" Id="R0bacc7c7ec664ee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64e954bda944e53" /><Relationship Type="http://schemas.openxmlformats.org/officeDocument/2006/relationships/notesMaster" Target="/ppt/notesMasters/notesMaster1.xml" Id="R42baba30fb8a4d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9f50b2bdf5b4d77" /><Relationship Type="http://schemas.openxmlformats.org/officeDocument/2006/relationships/notesMaster" Target="/ppt/notesMasters/notesMaster1.xml" Id="R6071a9379abe496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0ae2f0d4108484d" /><Relationship Type="http://schemas.openxmlformats.org/officeDocument/2006/relationships/notesMaster" Target="/ppt/notesMasters/notesMaster1.xml" Id="R4764ce60f3ef42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dffc9a2e054d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7953ded2434c6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bab4437689400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9062b9c35446e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9c4d72d7284b8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5cde661d15408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8427962-28D8-4428-8C7D-A3BF5F7DB3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D55375E-989D-4CBD-B5A6-34F7FF5D0F3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9A155E6-18D6-4A4E-A9C3-5A58CED0EF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1FB222B-AD23-423F-8146-D1E4A15E16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732947C-EB8B-49F8-A132-013D964F4B9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D2B7D9-6478-4A39-8BE5-DA693A36257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CC588B6-3407-411B-A618-B9EE6B504AE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344F63B-1501-4503-9556-F238CBCDCD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1D7A32-3C20-4F95-B0AD-B4082905DC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657992C-864B-48A9-9D2E-C81CD28B01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d719dcd56c48ce" /><Relationship Type="http://schemas.openxmlformats.org/officeDocument/2006/relationships/slideLayout" Target="/ppt/slideLayouts/slideLayout1.xml" Id="Ra250966ce62f47f2" /><Relationship Type="http://schemas.openxmlformats.org/officeDocument/2006/relationships/slideLayout" Target="/ppt/slideLayouts/slideLayout2.xml" Id="Rabad2de800774fc2" /><Relationship Type="http://schemas.openxmlformats.org/officeDocument/2006/relationships/slideLayout" Target="/ppt/slideLayouts/slideLayout3.xml" Id="R52952fd7885c4f8e" /><Relationship Type="http://schemas.openxmlformats.org/officeDocument/2006/relationships/slideLayout" Target="/ppt/slideLayouts/slideLayout4.xml" Id="R3352fa250ed84dd6" /><Relationship Type="http://schemas.openxmlformats.org/officeDocument/2006/relationships/slideLayout" Target="/ppt/slideLayouts/slideLayout5.xml" Id="Ra177524aecd54509" /><Relationship Type="http://schemas.openxmlformats.org/officeDocument/2006/relationships/slideLayout" Target="/ppt/slideLayouts/slideLayout6.xml" Id="R5581f05348a240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50966ce62f47f2"/>
    <p:sldLayoutId xmlns:r="http://schemas.openxmlformats.org/officeDocument/2006/relationships" id="2147483650" r:id="Rabad2de800774fc2"/>
    <p:sldLayoutId xmlns:r="http://schemas.openxmlformats.org/officeDocument/2006/relationships" id="2147483651" r:id="R52952fd7885c4f8e"/>
    <p:sldLayoutId xmlns:r="http://schemas.openxmlformats.org/officeDocument/2006/relationships" id="2147483652" r:id="R3352fa250ed84dd6"/>
    <p:sldLayoutId xmlns:r="http://schemas.openxmlformats.org/officeDocument/2006/relationships" id="2147483653" r:id="Ra177524aecd54509"/>
    <p:sldLayoutId xmlns:r="http://schemas.openxmlformats.org/officeDocument/2006/relationships" id="2147483654" r:id="R5581f05348a240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035819232e4b49" /><Relationship Type="http://schemas.openxmlformats.org/officeDocument/2006/relationships/notesSlide" Target="/ppt/notesSlides/notesSlide1.xml" Id="R880f6fec41f042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4e2a11ef444825" /><Relationship Type="http://schemas.openxmlformats.org/officeDocument/2006/relationships/notesSlide" Target="/ppt/notesSlides/notesSlide2.xml" Id="Rfe0c95ad26f14b4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7cf6c472f943b3" /><Relationship Type="http://schemas.openxmlformats.org/officeDocument/2006/relationships/notesSlide" Target="/ppt/notesSlides/notesSlide3.xml" Id="R0245636cd6194e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fc167c3c324c04" /><Relationship Type="http://schemas.openxmlformats.org/officeDocument/2006/relationships/notesSlide" Target="/ppt/notesSlides/notesSlide4.xml" Id="Rc06017b3a6a141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9af603edee4a1a" /><Relationship Type="http://schemas.openxmlformats.org/officeDocument/2006/relationships/notesSlide" Target="/ppt/notesSlides/notesSlide5.xml" Id="R6ea8de2e70cc4b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734f03893a4c8b" /><Relationship Type="http://schemas.openxmlformats.org/officeDocument/2006/relationships/notesSlide" Target="/ppt/notesSlides/notesSlide6.xml" Id="R33c33363bf134f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a6e78fb5284530" /><Relationship Type="http://schemas.openxmlformats.org/officeDocument/2006/relationships/notesSlide" Target="/ppt/notesSlides/notesSlide7.xml" Id="Rf278dda6a6c547f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6b5d4660d14b65" /><Relationship Type="http://schemas.openxmlformats.org/officeDocument/2006/relationships/notesSlide" Target="/ppt/notesSlides/notesSlide8.xml" Id="Rffbbebb62b924e6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e54ac531bd74150" /><Relationship Type="http://schemas.openxmlformats.org/officeDocument/2006/relationships/notesSlide" Target="/ppt/notesSlides/notesSlide9.xml" Id="Rb9af19e8cf3749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6d75ec349141c0" /><Relationship Type="http://schemas.openxmlformats.org/officeDocument/2006/relationships/notesSlide" Target="/ppt/notesSlides/notesSlide10.xml" Id="R2b430543f98f46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13519cd3dd841fa" /><Relationship Type="http://schemas.openxmlformats.org/officeDocument/2006/relationships/notesSlide" Target="/ppt/notesSlides/notesSlide11.xml" Id="Rd61df6d2f81443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e927b6bdf9f49ea" /><Relationship Type="http://schemas.openxmlformats.org/officeDocument/2006/relationships/notesSlide" Target="/ppt/notesSlides/notesSlide12.xml" Id="Raa3a7210df944a9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F1DF5A-597B-49FA-ADA0-69CDDFBEA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291A5-7794-40A9-A4EC-727F157B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Giả định và tính tải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BE3C5-83A0-4252-A9E1-2624B65C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Nguồn sự thật: sizing.py · token/model-call là giả định trước telemetry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073FB-88DF-4672-9770-5BC1F8BE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01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9F0A21-D17C-43E4-85D3-B0DADFCD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47875"/>
            <a:ext cx="2000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1.760M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requests/tháng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B6E4D9-B68A-487F-9DB2-6DE1F56E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47875"/>
            <a:ext cx="2000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2.376M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model calls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2FE3E8-5F9B-4B79-84E5-F919F51B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047875"/>
            <a:ext cx="2190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9.636B input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1.452B output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E226C8-0515-4DB3-A684-D1728E0D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047875"/>
            <a:ext cx="2095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0D1B26"/>
                </a:solidFill>
              </a:defRPr>
            </a:pPr>
            <a:r>
              <a:rPr sz="1575" b="1">
                <a:solidFill>
                  <a:srgbClr val="0D1B26"/>
                </a:solidFill>
              </a:rPr>
              <a:t>6.67 req/s</a:t>
            </a:r>
          </a:p>
          <a:p xmlns:a="http://schemas.openxmlformats.org/drawingml/2006/main">
            <a:pPr>
              <a:defRPr sz="1575" b="1">
                <a:solidFill>
                  <a:srgbClr val="0D1B26"/>
                </a:solidFill>
              </a:defRPr>
            </a:pPr>
            <a:r>
              <a:rPr sz="1575" b="1">
                <a:solidFill>
                  <a:srgbClr val="0D1B26"/>
                </a:solidFill>
              </a:rPr>
              <a:t>9.00 calls/s peak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F77A44-82BF-4D27-A8AB-30115C99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47875"/>
            <a:ext cx="20002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6.100 GB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prod + stage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88ECD0-359B-4BF3-8F2A-83A0B6691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671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Công thức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4B26D-2B5C-487E-9A90-71E90C81D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2.000 DAU × 22 × 40 = 1.760.000 requests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Giờ hành chính = 220h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1.760.000 ÷ 792.000s = 2,22 req/s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×3 peak = 6,67 req/s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400.000 sandbox workload × 30s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86AD90-5C4C-4D54-9252-FA2EFF21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671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Phạm vi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2F5A8B-088F-4F50-B381-4991F7C4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2386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90.000 ảnh/tháng là volume riêng.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Production storage: 2.000 × 3 GB = 6.000 GB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Staging storage: 100 GB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Fargate billing theo lifetime; sandbox cost dùng handoff Tú 80s billable giả định.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115BA-D300-4AD0-A694-DAE8D29A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AWS ap-southeast-1 · 2 AZ · USD/tháng chưa VAT</a:t>
            </a:r>
          </a:p>
        </p:txBody>
      </p:sp>
    </p:spTree>
    <p:extLst>
      <p:ext uri="{BB962C8B-B14F-4D97-AF65-F5344CB8AC3E}">
        <p14:creationId xmlns:p14="http://schemas.microsoft.com/office/powerpoint/2010/main" val="244813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C02BD-FBF5-4CDD-AA42-8A58BBF8D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1F9D2C-1D8C-4C5A-A852-D589A2B8A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Kiến trúc tổng thể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3B5B63-853B-4904-BE46-21266282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Mỗi hộp gắn mã component của báo giá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C276E-7E01-4D8E-ADE4-6AC6DD60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02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E766BD-D709-464E-A826-2F746111B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1476375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User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SSO/MFA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authn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928CC-FC3A-4605-A149-2ACE7C90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6479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600929-785B-40A2-AF50-EECAD457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381250"/>
            <a:ext cx="2000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WAF + ALB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network / load_balancer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0DA92B-C6B6-4B17-BFB2-622D5B41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479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FE6EA4-C690-4399-B07A-EC80A4372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19050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Fargate app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compute / gateway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75E52-5AF3-4A20-9261-7B491A5A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CD27A-AC71-4B63-ACBE-F24F21576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18097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Bedrock routing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llm / embedding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6B7679-EABF-413B-9652-33B848B0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4795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0B6E99"/>
                </a:solidFill>
              </a:defRPr>
            </a:pPr>
            <a:r>
              <a:rPr sz="2100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E83AD8-E362-4ABC-8DAF-25872F2CA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161925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Response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stream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1F6FB6-4AB0-4820-9DB6-6FA7AD33E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95750"/>
            <a:ext cx="2095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Aurora PostgreSQL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database / vector_db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2A547A-2631-4503-876F-E7A9CAFD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95750"/>
            <a:ext cx="1905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S3 workspace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object_storage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BBA23D-DA7B-4A7B-A517-15F1F1ABF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095750"/>
            <a:ext cx="17145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5E8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Fargate WASI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sandbox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475226-00C9-414A-8C74-8E1D4A5D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095750"/>
            <a:ext cx="23336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OAuth + KMS</a:t>
            </a:r>
          </a:p>
          <a:p xmlns:a="http://schemas.openxmlformats.org/drawingml/2006/main">
            <a:pPr>
              <a:defRPr sz="1200" b="1">
                <a:solidFill>
                  <a:srgbClr val="0D1B26"/>
                </a:solidFill>
              </a:defRPr>
            </a:pPr>
            <a:r>
              <a:rPr sz="1200" b="1">
                <a:solidFill>
                  <a:srgbClr val="0D1B26"/>
                </a:solidFill>
              </a:rPr>
              <a:t>secrets_kms / connectors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643E76-5C82-451B-A9BB-BE2A8A38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4292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15803D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15803D"/>
                </a:solidFill>
              </a:defRPr>
            </a:pPr>
            <a:r>
              <a:rPr sz="1425" b="1">
                <a:solidFill>
                  <a:srgbClr val="15803D"/>
                </a:solidFill>
              </a:rPr>
              <a:t>cache_queue · backup_dr · monitoring · governance · cicd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FAF3DD-EA39-402F-B8FE-74380F15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Reference architecture · Singapore proposed; account testing currently limited to Sydney</a:t>
            </a:r>
          </a:p>
        </p:txBody>
      </p:sp>
    </p:spTree>
    <p:extLst>
      <p:ext uri="{BB962C8B-B14F-4D97-AF65-F5344CB8AC3E}">
        <p14:creationId xmlns:p14="http://schemas.microsoft.com/office/powerpoint/2010/main" val="4940315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343925-BBA5-40A2-9614-108C51E72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437639-F917-4251-BC1F-BE47847B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Luồng xử lý một request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6530D0-C29C-4E41-B18A-E79FEE78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Một request có thể có nhiều LLM calls; tool call không tự sinh thêm LLM call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77989-9346-410F-AAC8-DA0A6F77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03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6A06D-8CED-4B12-BE73-5CF8E57D8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28875"/>
            <a:ext cx="15716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1  Authn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JWT + MFA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D83D7-DBF5-4445-88A1-2F428D2B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7051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8F4A9E-225B-41AD-98DB-58F9D0661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28875"/>
            <a:ext cx="15716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2  Authz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RLS + ACL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E9ACB3-7497-4917-8E72-39528108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7051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9D90C1-A4BB-4B8E-A74D-B5266E186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28875"/>
            <a:ext cx="15716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3  RAG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pgvector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13708-DA6F-4061-8F4C-F69C5E4B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7051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1FBE7A-812D-48A3-9A39-C328BBFE7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428875"/>
            <a:ext cx="15716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4  Model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route + stream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8DD7F1-D466-4682-B221-681697193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7051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A64A01-511D-4B7C-8D13-B4B2B693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28875"/>
            <a:ext cx="15716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5  Tool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approval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8A9E02-4D70-4996-BAB7-445BB889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7051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875" b="1">
                <a:solidFill>
                  <a:srgbClr val="0B6E99"/>
                </a:solidFill>
              </a:defRPr>
            </a:pPr>
            <a:r>
              <a:rPr sz="1875" b="1">
                <a:solidFill>
                  <a:srgbClr val="0B6E99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43606C-A272-4CC1-9ADB-D5637834B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2428875"/>
            <a:ext cx="1571625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6  Audit</a:t>
            </a:r>
          </a:p>
          <a:p xmlns:a="http://schemas.openxmlformats.org/drawingml/2006/main">
            <a:pPr>
              <a:defRPr sz="1275" b="1">
                <a:solidFill>
                  <a:srgbClr val="0D1B26"/>
                </a:solidFill>
              </a:defRPr>
            </a:pPr>
            <a:r>
              <a:rPr sz="1275" b="1">
                <a:solidFill>
                  <a:srgbClr val="0D1B26"/>
                </a:solidFill>
              </a:rPr>
              <a:t>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36643A-5623-40EF-8A55-339A536B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Data boundaries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FB89E7-7D7E-45A2-9050-464AC4167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Connector content is untrusted.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ACL is filtered before top-K retrieval and checked again before download.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OAuth token remains ciphertext; only broker can decrypt.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DEB1B-D2D8-484E-9354-7DB3308B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Side effects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86DBB6-7DCE-4650-80E7-3D23B81DC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send_email / create_ticket / delete_file require approval nonce.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Sandbox receives only the authorized job input.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Audit records decision and actor without raw secrets.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D0E6CB-0207-466C-8A25-26B2EF42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AWS ap-southeast-1 · 2 AZ · USD/tháng chưa VAT</a:t>
            </a:r>
          </a:p>
        </p:txBody>
      </p:sp>
    </p:spTree>
    <p:extLst>
      <p:ext uri="{BB962C8B-B14F-4D97-AF65-F5344CB8AC3E}">
        <p14:creationId xmlns:p14="http://schemas.microsoft.com/office/powerpoint/2010/main" val="7123006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19D098-097B-4ABB-ACBE-C9557182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718422-00E8-4020-9372-9971656A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Model routing và LLM serving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45FA92-F5C8-4DF9-8D12-1545D5DC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Baseline theo bảng giá Singapore do nhóm ghi nhận; chưa thay benchmark bằng giả định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7B292-1925-4932-B9CB-5BB176442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04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0282CD-DD38-4403-A488-75F2B268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238125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C1 · Nova Micro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1 call/request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2.376B in · 316.8M 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9C1DE0-1607-40F7-A330-FBFAF046E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95500"/>
            <a:ext cx="238125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C2 · Nova Lite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1 call/request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1.760B in · 264M out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1E084-6D4C-48FD-9E3F-3C715C0C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095500"/>
            <a:ext cx="238125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C3 · Nova Lite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2 calls/request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2.376B in · 369.6M 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7806BB-0573-4B18-9114-4AE0D81F0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2381250" cy="1190625"/>
          </a:xfrm>
          <a:prstGeom xmlns:a="http://schemas.openxmlformats.org/drawingml/2006/main" prst="roundRect">
            <a:avLst>
              <a:gd name="adj" fmla="val 6400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C4 · Nova Pro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3 calls/request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2.640B in · 422.4M 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E2AEC4-EC4F-41AE-B928-4D1C2497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C5 · Nova Lite: 1 text call/request · 484M input · 79.2M output · image call tách riêng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D74D77-CCC2-4D13-807B-B1132AC8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Monthly token estimate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2C563B-DEEC-496D-8DAE-6104C91B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Nova Micro: $171.23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Nova Lite C2/C3/C5: $605.17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Nova Pro: $4,675.97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LLM subtotal: $5,452.37/month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8BC57A-FC6C-4BB4-8080-AF61FE3E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Known blocker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E7A80-8776-46C1-9B5D-789E5B7FE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Nova Canvas v1 reached EOL 2026-09-30.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90.000 images remain a requirement, but no production image model is included until a supported replacement is verified.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No quality score is claimed.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322DA1-12FD-4652-BA4D-B26C936D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AWS ap-southeast-1 · 2 AZ · USD/tháng chưa VAT</a:t>
            </a:r>
          </a:p>
        </p:txBody>
      </p:sp>
    </p:spTree>
    <p:extLst>
      <p:ext uri="{BB962C8B-B14F-4D97-AF65-F5344CB8AC3E}">
        <p14:creationId xmlns:p14="http://schemas.microsoft.com/office/powerpoint/2010/main" val="47138338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1E7CFD-2AA6-42FB-BA7A-FE1658F06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45324A-0E63-485C-8D33-05DD57DD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Vì sao API thay vì GPU/hybrid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2F738-0BF9-4546-BE92-3E531AFF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Định hướng chi phí thấp nhất với tải bursty và chưa có throughput GPU đo được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94D1CF-3CB3-45D8-971E-3C11E6B0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05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102401-3312-42A0-A836-A417DCCF5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Bedrock API · chọn baseline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4A6874-13BB-47A1-9B58-F991A12F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Không giữ GPU 24/7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Chi phí gắn model calls/token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Scale theo request và peak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Private endpoint + APAC routing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Dễ đổi model sau eval gate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393250-2E82-4EBA-A8BD-21AD4FE8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GPU/hybrid · chưa chốt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68002D-1A01-44FC-ADE8-486FE3C4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Cần giá GPU, throughput thực đo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Phải cộng replica HA, model storage, network và 1–2 FTE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Chưa có benchmark TTFT/quality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• Chỉ chọn khi total GPU &lt; API và đạt H6/H8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Kết luận này là quyết định kiến trúc, chưa phải benchmark.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47AE4D-9F9D-444D-AB01-E55BB034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Model availability, data residency và pricing cần xác minh trong pilot Singapore</a:t>
            </a:r>
          </a:p>
        </p:txBody>
      </p:sp>
    </p:spTree>
    <p:extLst>
      <p:ext uri="{BB962C8B-B14F-4D97-AF65-F5344CB8AC3E}">
        <p14:creationId xmlns:p14="http://schemas.microsoft.com/office/powerpoint/2010/main" val="9246592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FA6CBC-7820-471D-B496-056DF6FA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8C5EFC-799C-4455-AA14-6BE588DC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Connectors và phân quyền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6FB1D9-2C2A-4390-BDF1-D7B4EC82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Identity của user đi xuyên từ IdP đến DB, S3, vector và tool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15E84-B571-4EF6-9A11-0F5F6FD9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06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CAD8D6-D482-4466-ADDE-24847513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Identity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80FBA4-303E-483F-8CF9-670F49CD2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Corporate IdP → Cognito federation → signed JWT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RBAC: employee / manager / admin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ABAC: tenant, department, classification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OAuth delegated scope tối thiểu; refresh token ciphertext trong DB.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BE6B15-0225-47AD-A815-C79D22AE0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Enforcement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B9BB31-DB0B-4D91-A1B0-DEE088DE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PostgreSQL RLS không BYPASSRLS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S3 prefix: users/{user_id}/...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ACL trước vector top-K và trước presigned URL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Side effect cần approval nonce + re-authorize.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64CC6-FA47-4FBD-8165-B99AC964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authn · authz · connectors · database · vector_db · object_storage · secrets_kms</a:t>
            </a:r>
          </a:p>
        </p:txBody>
      </p:sp>
    </p:spTree>
    <p:extLst>
      <p:ext uri="{BB962C8B-B14F-4D97-AF65-F5344CB8AC3E}">
        <p14:creationId xmlns:p14="http://schemas.microsoft.com/office/powerpoint/2010/main" val="145126450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4974AA-F428-48B3-872F-316822B2D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784D78-0CBF-4B31-82C3-76860A8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Workspace riêng và sandbox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82E5B-5B9B-41F5-9C76-A3B0E9F44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Fargate + WASI guest: giới hạn capability thay vì tuyên bố zero-risk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FDF721-ECCD-4D49-A834-C836B71D0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07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8592C3-D549-47D3-8014-26C2AC48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43125"/>
            <a:ext cx="2476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5E8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0D1B26"/>
                </a:solidFill>
              </a:defRPr>
            </a:pPr>
            <a:r>
              <a:rPr sz="1575" b="1">
                <a:solidFill>
                  <a:srgbClr val="0D1B26"/>
                </a:solidFill>
              </a:rPr>
              <a:t>400k production</a:t>
            </a:r>
          </a:p>
          <a:p xmlns:a="http://schemas.openxmlformats.org/drawingml/2006/main">
            <a:pPr>
              <a:defRPr sz="1575" b="1">
                <a:solidFill>
                  <a:srgbClr val="0D1B26"/>
                </a:solidFill>
              </a:defRPr>
            </a:pPr>
            <a:r>
              <a:rPr sz="1575" b="1">
                <a:solidFill>
                  <a:srgbClr val="0D1B26"/>
                </a:solidFill>
              </a:rPr>
              <a:t>20k staging</a:t>
            </a:r>
          </a:p>
          <a:p xmlns:a="http://schemas.openxmlformats.org/drawingml/2006/main">
            <a:pPr>
              <a:defRPr sz="1575" b="1">
                <a:solidFill>
                  <a:srgbClr val="0D1B26"/>
                </a:solidFill>
              </a:defRPr>
            </a:pPr>
            <a:r>
              <a:rPr sz="1575" b="1">
                <a:solidFill>
                  <a:srgbClr val="0D1B26"/>
                </a:solidFill>
              </a:rPr>
              <a:t>80s billable estimate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5D2937-5A5D-4CCB-9550-ED3C3634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43125"/>
            <a:ext cx="2476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0.5 vCPU · 1 GB</a:t>
            </a:r>
          </a:p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120s hard timeout</a:t>
            </a:r>
          </a:p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1 MB output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239257-4581-4263-9172-0A8EA21D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43125"/>
            <a:ext cx="2476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No NAT/IGW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ECR/Logs/S3 endpoints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no task 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F3CB5F-A1E3-4EF7-8E0D-41017296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143125"/>
            <a:ext cx="2476500" cy="1095375"/>
          </a:xfrm>
          <a:prstGeom xmlns:a="http://schemas.openxmlformats.org/drawingml/2006/main" prst="roundRect">
            <a:avLst>
              <a:gd name="adj" fmla="val 695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128 task peak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64 vCPU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quota ≥96 vCPU pending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C75C4-0973-4A92-A0A7-258312FE3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4812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Cùng task không phải security boundary: guest WASI không socket, không host path, không AWS credential. Code native/pip install runtime không nằm trong baseline; nếu cần phải báo giá lại Firecracker/Kata.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2DDEAA-6291-4430-9F8F-009D24C62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B45309"/>
                </a:solidFill>
              </a:defRPr>
            </a:pPr>
            <a:r>
              <a:rPr sz="1575" b="1">
                <a:solidFill>
                  <a:srgbClr val="B45309"/>
                </a:solidFill>
              </a:rPr>
              <a:t>Sandbox cost: $287.46/month · endpoints riêng đã nằm trong sandbox, không cộng lại network.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D97107-81DB-491E-9D5A-A600965D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AWS ap-southeast-1 · 2 AZ · USD/tháng chưa VAT</a:t>
            </a:r>
          </a:p>
        </p:txBody>
      </p:sp>
    </p:spTree>
    <p:extLst>
      <p:ext uri="{BB962C8B-B14F-4D97-AF65-F5344CB8AC3E}">
        <p14:creationId xmlns:p14="http://schemas.microsoft.com/office/powerpoint/2010/main" val="6044757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42F17C-C74C-4A05-86CC-E85EB222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11D018-3182-4282-8C46-F12571EA6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AI governance và data governance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998E6-2FE9-4F43-AF62-1EB7A596F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Guardrails Standard hỗ trợ tiếng Việt nhưng có xử lý cross-Region APAC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1798E5-E495-4817-9CAE-BB3C7C5F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08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A1C034-550C-4D93-9CEB-F4F1097E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Before / after inference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6595A-C806-4A01-B870-D4382BF5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Before: classification → DLP/PII → prompt attack →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After: output guardrail → DLP → ACL → response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Connector data is untrusted; tool result gets separate prompt-attack check.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9F3F9-5919-4A9A-ACE0-C3B433E3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Human control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8A6FB-9880-4A41-ADAD-F8A05241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send_email / ticket / delete file: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proposal → payload hash → approval nonce → re-authz → execute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Audit 12 months Object Lock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No raw prompt, token, key in logs.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3C772B-6FA7-458D-9F2A-12E8C06B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102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B45309"/>
                </a:solidFill>
              </a:defRPr>
            </a:pPr>
            <a:r>
              <a:rPr sz="1575" b="1">
                <a:solidFill>
                  <a:srgbClr val="B45309"/>
                </a:solidFill>
              </a:rPr>
              <a:t>Governance + audit subtotal: $1,966.36/month · model/image inference charges are separate.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814A60-9015-4D9C-A655-8F6E0236F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H4/H5 designed; guardrail language/residency and H8 safety still require pilot evidence</a:t>
            </a:r>
          </a:p>
        </p:txBody>
      </p:sp>
    </p:spTree>
    <p:extLst>
      <p:ext uri="{BB962C8B-B14F-4D97-AF65-F5344CB8AC3E}">
        <p14:creationId xmlns:p14="http://schemas.microsoft.com/office/powerpoint/2010/main" val="17153034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E2D545-22C5-4A59-AA28-E1FC9350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D3B29C-5DCF-43DA-8FB2-301C6999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HA, backup và DR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10F4A4-59B4-4E12-804B-165142C3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Thiết kế multi-AZ; RTO/RPO là mục tiêu cần restore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F9D6F-B7EC-4C7C-BC04-610636E6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09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E94AC0-3D57-421E-92FF-9765B1478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2 AZ</a:t>
            </a:r>
          </a:p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ALB + 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04F3DF-AA70-494E-B0F3-6B86D17B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33625"/>
            <a:ext cx="2095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RDS PostgreSQL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Multi-AZ prod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4B4120-A491-4522-9C35-2D9C0955E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33625"/>
            <a:ext cx="2095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S3 workspace</a:t>
            </a:r>
          </a:p>
          <a:p xmlns:a="http://schemas.openxmlformats.org/drawingml/2006/main">
            <a:pPr>
              <a:defRPr sz="1350" b="1">
                <a:solidFill>
                  <a:srgbClr val="0D1B26"/>
                </a:solidFill>
              </a:defRPr>
            </a:pPr>
            <a:r>
              <a:rPr sz="1350" b="1">
                <a:solidFill>
                  <a:srgbClr val="0D1B26"/>
                </a:solidFill>
              </a:rPr>
              <a:t>replica + Object Lock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FC91E-641D-4DDB-82B7-77A84BE3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33625"/>
            <a:ext cx="1809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Backup</a:t>
            </a:r>
          </a:p>
          <a:p xmlns:a="http://schemas.openxmlformats.org/drawingml/2006/main">
            <a:pPr>
              <a:defRPr sz="1425" b="1">
                <a:solidFill>
                  <a:srgbClr val="0D1B26"/>
                </a:solidFill>
              </a:defRPr>
            </a:pPr>
            <a:r>
              <a:rPr sz="1425" b="1">
                <a:solidFill>
                  <a:srgbClr val="0D1B26"/>
                </a:solidFill>
              </a:rPr>
              <a:t>restore drill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3A22E-2892-495F-AE55-45F9DA96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33625"/>
            <a:ext cx="142875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RTO 4h</a:t>
            </a:r>
          </a:p>
          <a:p xmlns:a="http://schemas.openxmlformats.org/drawingml/2006/main">
            <a:pPr>
              <a:defRPr sz="1500" b="1">
                <a:solidFill>
                  <a:srgbClr val="0D1B26"/>
                </a:solidFill>
              </a:defRPr>
            </a:pPr>
            <a:r>
              <a:rPr sz="1500" b="1">
                <a:solidFill>
                  <a:srgbClr val="0D1B26"/>
                </a:solidFill>
              </a:rPr>
              <a:t>RPO 1h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94ABF6-B794-4C67-8663-DAE2368A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Thành subtotal: $1,436.46/month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No cross-Region DR cost is added to baseline; loss of Singapore requires a separate regional DR decision and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19A2ED-E613-40BD-8EA0-1CCAFF8B3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95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Status</a:t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Designed: multi-AZ, backup policy, restore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00" b="0">
                <a:solidFill>
                  <a:srgbClr val="0D1B26"/>
                </a:solidFill>
              </a:defRPr>
            </a:pPr>
            <a:r>
              <a:rPr sz="1500" b="0">
                <a:solidFill>
                  <a:srgbClr val="0D1B26"/>
                </a:solidFill>
              </a:rPr>
              <a:t>Not verified: failover, restore timing, 99.5% availability under 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D0B12-6D87-40CE-84B6-2E9F6CA3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H7 is a design target until failover and restore drills complete</a:t>
            </a:r>
          </a:p>
        </p:txBody>
      </p:sp>
    </p:spTree>
    <p:extLst>
      <p:ext uri="{BB962C8B-B14F-4D97-AF65-F5344CB8AC3E}">
        <p14:creationId xmlns:p14="http://schemas.microsoft.com/office/powerpoint/2010/main" val="153459512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325449-CCF9-4416-9785-44F91498C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F91C7C-0BC1-44C0-A166-A79A8471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Monitoring và FinOps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11048-78D0-427A-B58B-FEB6D09A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Theo dõi usage ledger thay vì tạo 2.000 metric dimensions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899508-A6B0-4362-AB66-CEB0787B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10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CAFE8-046E-4EBE-9E23-C76BAEFE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Signals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36F0C9-D52E-4AAA-8F87-75BF3C91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TTFT p50/p95 · model calls · tokens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4xx/5xx/throttle · queue age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sandbox timeout/egress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ACL denies · KMS decrypt anomaly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Guardrail blocks · budget 50/80/100%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1A0DF4-0B58-440F-9372-B8C71E5E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Cost 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9DE77-A026-47DC-9350-03835B79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Usage ledger theo user/department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Quota theo user + 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Giảm image/agent cấp cao trước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Không tắt DLP/audit khi vượt budget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Monitoring subtotal Tú: $25.26/month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6AA991-E013-430D-B686-9B8B6AD6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monitoring · governance · gateway · cache_queue · cicd</a:t>
            </a:r>
          </a:p>
        </p:txBody>
      </p:sp>
    </p:spTree>
    <p:extLst>
      <p:ext uri="{BB962C8B-B14F-4D97-AF65-F5344CB8AC3E}">
        <p14:creationId xmlns:p14="http://schemas.microsoft.com/office/powerpoint/2010/main" val="147796448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51471F-6000-4027-9F4F-0D8DFD26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ED00FC-7C02-4174-ADB6-B032EE09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Chi phí tháng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A66AB8-9930-46F1-9D4C-0C249D668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TOTAL khớp công thức SUM trong Excel; image generation chưa được cộng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A935BB-108C-4F57-8214-F842FA13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11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2867C3-5F88-4FA0-A382-7E33C545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95500"/>
            <a:ext cx="6667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LLM serving                       $5,452.37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Tú: security/sandbox/ops          $2,321.63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Thành: data/cloud/DR              $1,436.46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Contingency 10%                   $924.94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Embedding + gateway + licenses    $38.96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Ops labor                         excluded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────────────────────────────────────────</a:t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TOTAL                             $10,174.36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1">
                <a:solidFill>
                  <a:srgbClr val="0D1B26"/>
                </a:solidFill>
              </a:defRPr>
            </a:pPr>
            <a:r>
              <a:rPr sz="1725" b="1">
                <a:solidFill>
                  <a:srgbClr val="0D1B26"/>
                </a:solidFill>
              </a:rPr>
              <a:t>$5.09 / DAU / month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F1049-8BD6-48E3-B3EA-C51407548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238375"/>
            <a:ext cx="2476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Priced subtotal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$9,249.42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093B20-6516-4A85-96F1-94D3FD12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247650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Contingency</a:t>
            </a:r>
          </a:p>
          <a:p xmlns:a="http://schemas.openxmlformats.org/drawingml/2006/main">
            <a:pPr>
              <a:defRPr sz="1650" b="1">
                <a:solidFill>
                  <a:srgbClr val="0D1B26"/>
                </a:solidFill>
              </a:defRPr>
            </a:pPr>
            <a:r>
              <a:rPr sz="1650" b="1">
                <a:solidFill>
                  <a:srgbClr val="0D1B26"/>
                </a:solidFill>
              </a:rPr>
              <a:t>$924.94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57645A-3B0A-4FB4-A2FB-7655343C9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482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B91C1C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B91C1C"/>
                </a:solidFill>
              </a:defRPr>
            </a:pPr>
            <a:r>
              <a:rPr sz="1350" b="1">
                <a:solidFill>
                  <a:srgbClr val="B91C1C"/>
                </a:solidFill>
              </a:rPr>
              <a:t>Image generation: 90k volume remains a blocker; Nova Canvas EOL means no unsupported $0.04/image charge is included.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1CBF9-8D0A-4DD5-A4DE-F9C04EB20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AWS ap-southeast-1 · 2 AZ · USD/tháng chưa VAT</a:t>
            </a:r>
          </a:p>
        </p:txBody>
      </p:sp>
    </p:spTree>
    <p:extLst>
      <p:ext uri="{BB962C8B-B14F-4D97-AF65-F5344CB8AC3E}">
        <p14:creationId xmlns:p14="http://schemas.microsoft.com/office/powerpoint/2010/main" val="10945391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2F5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3A83A0-A7FD-4CEB-B53C-F9EA47E1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B6E99"/>
                </a:solidFill>
              </a:defRPr>
            </a:pPr>
            <a:r>
              <a:rPr sz="975" b="1">
                <a:solidFill>
                  <a:srgbClr val="0B6E99"/>
                </a:solidFill>
              </a:rPr>
              <a:t>VBOT WORKPLACE · G03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B4BE62-FCB9-45EF-82CF-2C6B5BE5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066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0D1B26"/>
                </a:solidFill>
              </a:defRPr>
            </a:pPr>
            <a:r>
              <a:rPr sz="2550" b="1">
                <a:solidFill>
                  <a:srgbClr val="0D1B26"/>
                </a:solidFill>
              </a:rPr>
              <a:t>Rủi ro, giới hạn kiểm chứng và mở rộng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BE380-D50E-4BD7-B3BE-6BC216753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11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4F6270"/>
                </a:solidFill>
              </a:defRPr>
            </a:pPr>
            <a:r>
              <a:rPr sz="1275" b="0">
                <a:solidFill>
                  <a:srgbClr val="4F6270"/>
                </a:solidFill>
              </a:rPr>
              <a:t>Nộp được hai file; không biến mục tiêu thiết kế thành kết quả đo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93E3A9-E7C3-46CB-9567-C0AC430C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85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4F6270"/>
                </a:solidFill>
              </a:defRPr>
            </a:pPr>
            <a:r>
              <a:rPr sz="975" b="1">
                <a:solidFill>
                  <a:srgbClr val="4F6270"/>
                </a:solidFill>
              </a:rPr>
              <a:t>12 / 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D9177E-9536-4BA8-B0E6-AB45A2DB7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9EDF6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Chưa thể xác minh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5AC5E-214E-48E9-9DE6-500C8E11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AWS account thực hành bị giới hạn Sydney; Singapore chưa chạy trực tiếp.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H6: chưa có TTFT p95 ≤3s benchmark.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H7: chưa có failover/restore drill.</a:t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H8: chưa có ≥95% quality report.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Image production model: blocker.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37DE2-70AB-4A0A-A500-C0467F55A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52625"/>
            <a:ext cx="50958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CE3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0B6E99"/>
                </a:solidFill>
              </a:defRPr>
            </a:defPPr>
          </a:lstStyle>
          <a:p xmlns:a="http://schemas.openxmlformats.org/drawingml/2006/main">
            <a:pPr>
              <a:defRPr sz="1425" b="1">
                <a:solidFill>
                  <a:srgbClr val="0B6E99"/>
                </a:solidFill>
              </a:defRPr>
            </a:pPr>
            <a:r>
              <a:rPr sz="1425" b="1">
                <a:solidFill>
                  <a:srgbClr val="0B6E99"/>
                </a:solidFill>
              </a:rPr>
              <a:t>Khi lên 4.000 DAU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F6E37-BD57-4A67-91C3-2734E4A9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24125"/>
            <a:ext cx="476250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0D1B26"/>
                </a:solidFill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Requests, calls, tokens, storage, WAF/egress và guardrail text units tăng gần tuyến tính.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Review quota Fargate ≥96 vCPU, DB tier, queue, log budget.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425" b="0">
                <a:solidFill>
                  <a:srgbClr val="0D1B26"/>
                </a:solidFill>
              </a:defRPr>
            </a:pPr>
            <a:r>
              <a:rPr sz="1425" b="0">
                <a:solidFill>
                  <a:srgbClr val="0D1B26"/>
                </a:solidFill>
              </a:rPr>
              <a:t>Rerun sizing.py + cost workbook; re-evaluate API/GPU only with measured throughput.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FDA829-2618-41DF-BEFE-1725F12B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953125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B45309"/>
                </a:solidFill>
              </a:defRPr>
            </a:pPr>
            <a:r>
              <a:rPr sz="1500" b="1">
                <a:solidFill>
                  <a:srgbClr val="B45309"/>
                </a:solidFill>
              </a:rPr>
              <a:t>Kết luận: architecture proposed for Singapore · cost working estimate · open verification items are explicitly listed.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83F5A-438B-43E1-AA3B-6DB8D157D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0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00" b="0">
                <a:solidFill>
                  <a:srgbClr val="4F6270"/>
                </a:solidFill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4F6270"/>
                </a:solidFill>
              </a:defRPr>
            </a:pPr>
            <a:r>
              <a:rPr sz="900" b="0">
                <a:solidFill>
                  <a:srgbClr val="4F6270"/>
                </a:solidFill>
              </a:rPr>
              <a:t>G03 · 12 slides · 7-minute presentation</a:t>
            </a:r>
          </a:p>
        </p:txBody>
      </p:sp>
    </p:spTree>
    <p:extLst>
      <p:ext uri="{BB962C8B-B14F-4D97-AF65-F5344CB8AC3E}">
        <p14:creationId xmlns:p14="http://schemas.microsoft.com/office/powerpoint/2010/main" val="10018686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2026-10-16T05:15:03.6760000Z</dcterms:created>
  <dcterms:modified xsi:type="dcterms:W3CDTF">2026-10-16T05:15:03.6760000Z</dcterms:modified>
</coreProperties>
</file>